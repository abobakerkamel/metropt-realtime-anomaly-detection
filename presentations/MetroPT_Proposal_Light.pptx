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spPr>
            <a:solidFill>
              <a:srgbClr val="E11D48"/>
            </a:solidFill>
            <a:ln w="31750" cap="flat">
              <a:solidFill>
                <a:srgbClr val="E11D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08:00</c:v>
                  </c:pt>
                  <c:pt idx="1">
                    <c:v>09:00</c:v>
                  </c:pt>
                  <c:pt idx="2">
                    <c:v>10:00</c:v>
                  </c:pt>
                  <c:pt idx="3">
                    <c:v>11:00</c:v>
                  </c:pt>
                  <c:pt idx="4">
                    <c:v>12:00</c:v>
                  </c:pt>
                  <c:pt idx="5">
                    <c:v>13:00</c:v>
                  </c:pt>
                  <c:pt idx="6">
                    <c:v>14:00</c:v>
                  </c:pt>
                  <c:pt idx="7">
                    <c:v>15:00</c:v>
                  </c:pt>
                  <c:pt idx="8">
                    <c:v>16:00</c:v>
                  </c:pt>
                  <c:pt idx="9">
                    <c:v>17:00</c:v>
                  </c:pt>
                  <c:pt idx="10">
                    <c:v>18:00</c:v>
                  </c:pt>
                  <c:pt idx="11">
                    <c:v>19:00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21</c:v>
                </c:pt>
                <c:pt idx="7">
                  <c:v>34</c:v>
                </c:pt>
                <c:pt idx="8">
                  <c:v>9</c:v>
                </c:pt>
                <c:pt idx="9">
                  <c:v>4</c:v>
                </c:pt>
                <c:pt idx="10">
                  <c:v>3</c:v>
                </c:pt>
                <c:pt idx="11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real-time big data pipeline that watches railway air-compressor sensors and flags abnormal behavior before it becomes a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not storage — it is early warning. Walk through the three pain points, then land on the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MetroPT-3 is real railway compressor telemetry: 1.5M+ rows, 15 signals. It replays naturally as a stream and needs no labels for K-Means.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data left to right: CSV replay → Kafka → Spark Streaming → PostgreSQL → Superset. Spark hands features to K-Means; predictions land in PostgreSQL. Airflow and Docker wrap the whole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CSV row is published as a JSON event. The producer sets the pace, the topic buffers, Spark subscribes.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Structured Streaming reads Kafka continuously: parse, clean, aggregate per 60-second window, write KPIs every 5-second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Unsupervised: K-Means learns 5 clusters of normal operation. Records far from every centroid (score above 3.03) are flagged — 577 anomalies out of ~304K training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holds KPIs and predictions; Superset makes the spike obvious to non-technical 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Reproducibility is a feature: anyone can clone the repo, run docker compose up, and get the same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live demo in five beats, then close with the one-line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-365760"/>
          <a:ext cx="0" cy="0"/>
          <a:chOff x="0" y="0"/>
          <a:chExt cx="0" cy="0"/>
        </a:xfrm>
      </p:grpSpPr>
      <p:sp>
        <p:nvSpPr>
          <p:cNvPr id="2" name="Eyebrow 1"/>
          <p:cNvSpPr txBox="1"/>
          <p:nvPr/>
        </p:nvSpPr>
        <p:spPr>
          <a:xfrm>
            <a:off x="45720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 ·  INDUSTRIAL IoT  ·  SPARK ML</a:t>
            </a:r>
            <a:endParaRPr lang="en-US" sz="1100" dirty="0"/>
          </a:p>
        </p:txBody>
      </p:sp>
      <p:sp>
        <p:nvSpPr>
          <p:cNvPr id="3" name="Title 2"/>
          <p:cNvSpPr txBox="1"/>
          <p:nvPr/>
        </p:nvSpPr>
        <p:spPr>
          <a:xfrm>
            <a:off x="457200" y="640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Railway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Compressor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4000" dirty="0"/>
          </a:p>
        </p:txBody>
      </p:sp>
      <p:sp>
        <p:nvSpPr>
          <p:cNvPr id="4" name="Subtitle 3"/>
          <p:cNvSpPr txBox="1"/>
          <p:nvPr/>
        </p:nvSpPr>
        <p:spPr>
          <a:xfrm>
            <a:off x="457200" y="2560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containerized streaming pipeline with Spark MLlib anomaly detection and Superset dashboards.</a:t>
            </a:r>
            <a:endParaRPr lang="en-US" sz="1500" dirty="0"/>
          </a:p>
        </p:txBody>
      </p:sp>
      <p:sp>
        <p:nvSpPr>
          <p:cNvPr id="5" name="Chip 4"/>
          <p:cNvSpPr txBox="1"/>
          <p:nvPr/>
        </p:nvSpPr>
        <p:spPr>
          <a:xfrm>
            <a:off x="457200" y="338328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E0F4F8"/>
          </a:solidFill>
          <a:ln w="9525"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6" name="Chip 5"/>
          <p:cNvSpPr txBox="1"/>
          <p:nvPr/>
        </p:nvSpPr>
        <p:spPr>
          <a:xfrm>
            <a:off x="1252728" y="338328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E0F4F8"/>
          </a:solidFill>
          <a:ln w="9525"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00" dirty="0"/>
          </a:p>
        </p:txBody>
      </p:sp>
      <p:sp>
        <p:nvSpPr>
          <p:cNvPr id="7" name="Chip 6"/>
          <p:cNvSpPr txBox="1"/>
          <p:nvPr/>
        </p:nvSpPr>
        <p:spPr>
          <a:xfrm>
            <a:off x="2048256" y="33832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0F4F8"/>
          </a:solidFill>
          <a:ln w="9525"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K-Means</a:t>
            </a:r>
            <a:endParaRPr lang="en-US" sz="1100" dirty="0"/>
          </a:p>
        </p:txBody>
      </p:sp>
      <p:sp>
        <p:nvSpPr>
          <p:cNvPr id="8" name="Chip 7"/>
          <p:cNvSpPr txBox="1"/>
          <p:nvPr/>
        </p:nvSpPr>
        <p:spPr>
          <a:xfrm>
            <a:off x="3300984" y="338328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0F4F8"/>
          </a:solidFill>
          <a:ln w="9525"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</a:t>
            </a:r>
            <a:endParaRPr lang="en-US" sz="1100" dirty="0"/>
          </a:p>
        </p:txBody>
      </p:sp>
      <p:sp>
        <p:nvSpPr>
          <p:cNvPr id="9" name="Monitor 8"/>
          <p:cNvSpPr/>
          <p:nvPr/>
        </p:nvSpPr>
        <p:spPr>
          <a:xfrm>
            <a:off x="5212080" y="5486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Live dot 9"/>
          <p:cNvSpPr/>
          <p:nvPr/>
        </p:nvSpPr>
        <p:spPr>
          <a:xfrm>
            <a:off x="5486400" y="822960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Live label 10"/>
          <p:cNvSpPr txBox="1"/>
          <p:nvPr/>
        </p:nvSpPr>
        <p:spPr>
          <a:xfrm>
            <a:off x="5687568" y="7863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TP3 PRESSURE STREAM</a:t>
            </a:r>
            <a:endParaRPr lang="en-US" sz="900" dirty="0"/>
          </a:p>
        </p:txBody>
      </p:sp>
      <p:sp>
        <p:nvSpPr>
          <p:cNvPr id="12" name="Grid 11"/>
          <p:cNvSpPr/>
          <p:nvPr/>
        </p:nvSpPr>
        <p:spPr>
          <a:xfrm>
            <a:off x="5486400" y="1371600"/>
            <a:ext cx="2926080" cy="0"/>
          </a:xfrm>
          <a:prstGeom prst="line">
            <a:avLst/>
          </a:prstGeom>
          <a:noFill/>
          <a:ln w="6350">
            <a:solidFill>
              <a:srgbClr val="E6EBF2"/>
            </a:solidFill>
            <a:prstDash val="solid"/>
          </a:ln>
        </p:spPr>
      </p:sp>
      <p:sp>
        <p:nvSpPr>
          <p:cNvPr id="13" name="Grid 12"/>
          <p:cNvSpPr/>
          <p:nvPr/>
        </p:nvSpPr>
        <p:spPr>
          <a:xfrm>
            <a:off x="5486400" y="1874520"/>
            <a:ext cx="2926080" cy="0"/>
          </a:xfrm>
          <a:prstGeom prst="line">
            <a:avLst/>
          </a:prstGeom>
          <a:noFill/>
          <a:ln w="6350">
            <a:solidFill>
              <a:srgbClr val="E6EBF2"/>
            </a:solidFill>
            <a:prstDash val="solid"/>
          </a:ln>
        </p:spPr>
      </p:sp>
      <p:sp>
        <p:nvSpPr>
          <p:cNvPr id="14" name="Grid 13"/>
          <p:cNvSpPr/>
          <p:nvPr/>
        </p:nvSpPr>
        <p:spPr>
          <a:xfrm>
            <a:off x="5486400" y="2377440"/>
            <a:ext cx="2926080" cy="0"/>
          </a:xfrm>
          <a:prstGeom prst="line">
            <a:avLst/>
          </a:prstGeom>
          <a:noFill/>
          <a:ln w="6350">
            <a:solidFill>
              <a:srgbClr val="E6EBF2"/>
            </a:solidFill>
            <a:prstDash val="solid"/>
          </a:ln>
        </p:spPr>
      </p:sp>
      <p:sp>
        <p:nvSpPr>
          <p:cNvPr id="15" name="Grid 14"/>
          <p:cNvSpPr/>
          <p:nvPr/>
        </p:nvSpPr>
        <p:spPr>
          <a:xfrm>
            <a:off x="5486400" y="2880360"/>
            <a:ext cx="2926080" cy="0"/>
          </a:xfrm>
          <a:prstGeom prst="line">
            <a:avLst/>
          </a:prstGeom>
          <a:noFill/>
          <a:ln w="6350">
            <a:solidFill>
              <a:srgbClr val="E6EBF2"/>
            </a:solidFill>
            <a:prstDash val="solid"/>
          </a:ln>
        </p:spPr>
      </p:sp>
      <p:sp>
        <p:nvSpPr>
          <p:cNvPr id="16" name="Signal 15"/>
          <p:cNvSpPr/>
          <p:nvPr/>
        </p:nvSpPr>
        <p:spPr>
          <a:xfrm>
            <a:off x="5486400" y="1280160"/>
            <a:ext cx="2926080" cy="1737360"/>
          </a:xfrm>
          <a:custGeom>
            <a:avLst/>
            <a:gdLst/>
            <a:ahLst/>
            <a:cxnLst/>
            <a:rect l="l" t="t" r="r" b="b"/>
            <a:pathLst>
              <a:path w="2926080" h="1737360">
                <a:moveTo>
                  <a:pt x="0" y="1028645"/>
                </a:moveTo>
                <a:lnTo>
                  <a:pt x="41801" y="1077937"/>
                </a:lnTo>
                <a:lnTo>
                  <a:pt x="83602" y="1069904"/>
                </a:lnTo>
                <a:lnTo>
                  <a:pt x="125403" y="1116575"/>
                </a:lnTo>
                <a:lnTo>
                  <a:pt x="167205" y="817870"/>
                </a:lnTo>
                <a:lnTo>
                  <a:pt x="209006" y="779955"/>
                </a:lnTo>
                <a:lnTo>
                  <a:pt x="250807" y="889765"/>
                </a:lnTo>
                <a:lnTo>
                  <a:pt x="292608" y="872985"/>
                </a:lnTo>
                <a:lnTo>
                  <a:pt x="334409" y="1138874"/>
                </a:lnTo>
                <a:lnTo>
                  <a:pt x="376210" y="1148988"/>
                </a:lnTo>
                <a:lnTo>
                  <a:pt x="418011" y="948482"/>
                </a:lnTo>
                <a:lnTo>
                  <a:pt x="459813" y="955948"/>
                </a:lnTo>
                <a:lnTo>
                  <a:pt x="501614" y="757332"/>
                </a:lnTo>
                <a:lnTo>
                  <a:pt x="543415" y="780308"/>
                </a:lnTo>
                <a:lnTo>
                  <a:pt x="585216" y="1046289"/>
                </a:lnTo>
                <a:lnTo>
                  <a:pt x="627017" y="1024916"/>
                </a:lnTo>
                <a:lnTo>
                  <a:pt x="668818" y="1132067"/>
                </a:lnTo>
                <a:lnTo>
                  <a:pt x="710619" y="1083095"/>
                </a:lnTo>
                <a:lnTo>
                  <a:pt x="752421" y="786609"/>
                </a:lnTo>
                <a:lnTo>
                  <a:pt x="794222" y="841710"/>
                </a:lnTo>
                <a:lnTo>
                  <a:pt x="836023" y="835809"/>
                </a:lnTo>
                <a:lnTo>
                  <a:pt x="877824" y="892875"/>
                </a:lnTo>
                <a:lnTo>
                  <a:pt x="919625" y="1181367"/>
                </a:lnTo>
                <a:lnTo>
                  <a:pt x="961426" y="1081428"/>
                </a:lnTo>
                <a:lnTo>
                  <a:pt x="1003227" y="992107"/>
                </a:lnTo>
                <a:lnTo>
                  <a:pt x="1045029" y="951562"/>
                </a:lnTo>
                <a:lnTo>
                  <a:pt x="1086830" y="706288"/>
                </a:lnTo>
                <a:lnTo>
                  <a:pt x="1128631" y="850037"/>
                </a:lnTo>
                <a:lnTo>
                  <a:pt x="1170432" y="1014353"/>
                </a:lnTo>
                <a:lnTo>
                  <a:pt x="1212233" y="1012774"/>
                </a:lnTo>
                <a:lnTo>
                  <a:pt x="1254034" y="1188931"/>
                </a:lnTo>
                <a:lnTo>
                  <a:pt x="1295835" y="1015309"/>
                </a:lnTo>
                <a:lnTo>
                  <a:pt x="1337637" y="806161"/>
                </a:lnTo>
                <a:lnTo>
                  <a:pt x="1379438" y="870300"/>
                </a:lnTo>
                <a:lnTo>
                  <a:pt x="1421239" y="775733"/>
                </a:lnTo>
                <a:lnTo>
                  <a:pt x="1463040" y="954465"/>
                </a:lnTo>
                <a:lnTo>
                  <a:pt x="1504841" y="1174385"/>
                </a:lnTo>
                <a:lnTo>
                  <a:pt x="1546642" y="1037682"/>
                </a:lnTo>
                <a:lnTo>
                  <a:pt x="1588443" y="1052986"/>
                </a:lnTo>
                <a:lnTo>
                  <a:pt x="1630245" y="900177"/>
                </a:lnTo>
                <a:lnTo>
                  <a:pt x="1672046" y="700865"/>
                </a:lnTo>
                <a:lnTo>
                  <a:pt x="1713847" y="906472"/>
                </a:lnTo>
                <a:lnTo>
                  <a:pt x="1755648" y="954884"/>
                </a:lnTo>
                <a:lnTo>
                  <a:pt x="1797449" y="1050580"/>
                </a:lnTo>
                <a:lnTo>
                  <a:pt x="1839250" y="1206354"/>
                </a:lnTo>
                <a:lnTo>
                  <a:pt x="1881051" y="949650"/>
                </a:lnTo>
                <a:lnTo>
                  <a:pt x="1922853" y="862136"/>
                </a:lnTo>
                <a:lnTo>
                  <a:pt x="1964654" y="848481"/>
                </a:lnTo>
                <a:lnTo>
                  <a:pt x="2006455" y="694944"/>
                </a:lnTo>
                <a:lnTo>
                  <a:pt x="2048256" y="34747"/>
                </a:lnTo>
                <a:lnTo>
                  <a:pt x="2090057" y="1476756"/>
                </a:lnTo>
                <a:lnTo>
                  <a:pt x="2131858" y="868680"/>
                </a:lnTo>
                <a:lnTo>
                  <a:pt x="2173659" y="1092403"/>
                </a:lnTo>
                <a:lnTo>
                  <a:pt x="2215461" y="828852"/>
                </a:lnTo>
                <a:lnTo>
                  <a:pt x="2257262" y="743737"/>
                </a:lnTo>
                <a:lnTo>
                  <a:pt x="2299063" y="918993"/>
                </a:lnTo>
                <a:lnTo>
                  <a:pt x="2340864" y="906001"/>
                </a:lnTo>
                <a:lnTo>
                  <a:pt x="2382665" y="1118143"/>
                </a:lnTo>
                <a:lnTo>
                  <a:pt x="2424466" y="1173111"/>
                </a:lnTo>
                <a:lnTo>
                  <a:pt x="2466267" y="921268"/>
                </a:lnTo>
                <a:lnTo>
                  <a:pt x="2508069" y="918933"/>
                </a:lnTo>
                <a:lnTo>
                  <a:pt x="2549870" y="788559"/>
                </a:lnTo>
                <a:lnTo>
                  <a:pt x="2591671" y="768536"/>
                </a:lnTo>
                <a:lnTo>
                  <a:pt x="2633472" y="1067140"/>
                </a:lnTo>
                <a:lnTo>
                  <a:pt x="2675273" y="1061321"/>
                </a:lnTo>
                <a:lnTo>
                  <a:pt x="2717074" y="1091480"/>
                </a:lnTo>
                <a:lnTo>
                  <a:pt x="2758875" y="1084131"/>
                </a:lnTo>
                <a:lnTo>
                  <a:pt x="2800677" y="776349"/>
                </a:lnTo>
                <a:lnTo>
                  <a:pt x="2842478" y="809492"/>
                </a:lnTo>
                <a:lnTo>
                  <a:pt x="2884279" y="882704"/>
                </a:lnTo>
                <a:lnTo>
                  <a:pt x="2926080" y="899628"/>
                </a:lnTo>
              </a:path>
            </a:pathLst>
          </a:custGeom>
          <a:ln w="25400">
            <a:solidFill>
              <a:srgbClr val="0891B2"/>
            </a:solidFill>
            <a:prstDash val="solid"/>
          </a:ln>
        </p:spPr>
      </p:sp>
      <p:sp>
        <p:nvSpPr>
          <p:cNvPr id="17" name="Threshold 16"/>
          <p:cNvSpPr/>
          <p:nvPr/>
        </p:nvSpPr>
        <p:spPr>
          <a:xfrm>
            <a:off x="5486400" y="1627632"/>
            <a:ext cx="292608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18" name="Threshold label 17"/>
          <p:cNvSpPr txBox="1"/>
          <p:nvPr/>
        </p:nvSpPr>
        <p:spPr>
          <a:xfrm>
            <a:off x="5486400" y="14081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3.03</a:t>
            </a:r>
            <a:endParaRPr lang="en-US" sz="900" dirty="0"/>
          </a:p>
        </p:txBody>
      </p:sp>
      <p:sp>
        <p:nvSpPr>
          <p:cNvPr id="19" name="Anomaly ring 18"/>
          <p:cNvSpPr/>
          <p:nvPr/>
        </p:nvSpPr>
        <p:spPr>
          <a:xfrm>
            <a:off x="7406640" y="1186891"/>
            <a:ext cx="256032" cy="256032"/>
          </a:xfrm>
          <a:prstGeom prst="ellipse">
            <a:avLst/>
          </a:prstGeom>
          <a:solidFill>
            <a:srgbClr val="FFE4E8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0" name="Alert 19"/>
          <p:cNvSpPr txBox="1"/>
          <p:nvPr/>
        </p:nvSpPr>
        <p:spPr>
          <a:xfrm>
            <a:off x="5486400" y="31546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4E8"/>
          </a:solidFill>
          <a:ln w="9525">
            <a:solidFill>
              <a:srgbClr val="E11D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DETECTED</a:t>
            </a:r>
            <a:endParaRPr lang="en-US" sz="1000" dirty="0"/>
          </a:p>
        </p:txBody>
      </p:sp>
      <p:sp>
        <p:nvSpPr>
          <p:cNvPr id="21" name="Caption 20"/>
          <p:cNvSpPr txBox="1"/>
          <p:nvPr/>
        </p:nvSpPr>
        <p:spPr>
          <a:xfrm>
            <a:off x="713232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MetroPT-3 sensor stream → insight</a:t>
            </a:r>
            <a:endParaRPr lang="en-US" sz="900" dirty="0"/>
          </a:p>
        </p:txBody>
      </p:sp>
      <p:sp>
        <p:nvSpPr>
          <p:cNvPr id="101" name="Team card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</p:spPr>
      </p:sp>
      <p:sp>
        <p:nvSpPr>
          <p:cNvPr id="102" name="Team label"/>
          <p:cNvSpPr txBox="1"/>
          <p:nvPr/>
        </p:nvSpPr>
        <p:spPr>
          <a:xfrm>
            <a:off x="731520" y="3977640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PROJECT TEAM</a:t>
            </a:r>
          </a:p>
        </p:txBody>
      </p:sp>
      <p:sp>
        <p:nvSpPr>
          <p:cNvPr id="103" name="Team dot 1"/>
          <p:cNvSpPr/>
          <p:nvPr/>
        </p:nvSpPr>
        <p:spPr>
          <a:xfrm>
            <a:off x="2194560" y="4197096"/>
            <a:ext cx="73152" cy="7315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04" name="Team name 1"/>
          <p:cNvSpPr txBox="1"/>
          <p:nvPr/>
        </p:nvSpPr>
        <p:spPr>
          <a:xfrm>
            <a:off x="2359152" y="413308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Felopater Adel</a:t>
            </a:r>
          </a:p>
        </p:txBody>
      </p:sp>
      <p:sp>
        <p:nvSpPr>
          <p:cNvPr id="105" name="Team dot 2"/>
          <p:cNvSpPr/>
          <p:nvPr/>
        </p:nvSpPr>
        <p:spPr>
          <a:xfrm>
            <a:off x="4343400" y="4197096"/>
            <a:ext cx="73152" cy="7315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06" name="Team name 2"/>
          <p:cNvSpPr txBox="1"/>
          <p:nvPr/>
        </p:nvSpPr>
        <p:spPr>
          <a:xfrm>
            <a:off x="4507992" y="413308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Abubaker Kamel</a:t>
            </a:r>
          </a:p>
        </p:txBody>
      </p:sp>
      <p:sp>
        <p:nvSpPr>
          <p:cNvPr id="107" name="Team dot 3"/>
          <p:cNvSpPr/>
          <p:nvPr/>
        </p:nvSpPr>
        <p:spPr>
          <a:xfrm>
            <a:off x="6492240" y="4197096"/>
            <a:ext cx="73152" cy="7315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08" name="Team name 3"/>
          <p:cNvSpPr txBox="1"/>
          <p:nvPr/>
        </p:nvSpPr>
        <p:spPr>
          <a:xfrm>
            <a:off x="6656832" y="413308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Ahmed Salah Heusien</a:t>
            </a:r>
          </a:p>
        </p:txBody>
      </p:sp>
      <p:sp>
        <p:nvSpPr>
          <p:cNvPr id="109" name="Team dot 4"/>
          <p:cNvSpPr/>
          <p:nvPr/>
        </p:nvSpPr>
        <p:spPr>
          <a:xfrm>
            <a:off x="2194560" y="4471416"/>
            <a:ext cx="73152" cy="7315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10" name="Team name 4"/>
          <p:cNvSpPr txBox="1"/>
          <p:nvPr/>
        </p:nvSpPr>
        <p:spPr>
          <a:xfrm>
            <a:off x="2359152" y="440740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Donya Samy Qurani</a:t>
            </a:r>
          </a:p>
        </p:txBody>
      </p:sp>
      <p:sp>
        <p:nvSpPr>
          <p:cNvPr id="111" name="Team dot 5"/>
          <p:cNvSpPr/>
          <p:nvPr/>
        </p:nvSpPr>
        <p:spPr>
          <a:xfrm>
            <a:off x="4343400" y="4471416"/>
            <a:ext cx="73152" cy="7315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12" name="Team name 5"/>
          <p:cNvSpPr txBox="1"/>
          <p:nvPr/>
        </p:nvSpPr>
        <p:spPr>
          <a:xfrm>
            <a:off x="4507992" y="440740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Omar Mohamed Kenawi</a:t>
            </a:r>
          </a:p>
        </p:txBody>
      </p:sp>
      <p:sp>
        <p:nvSpPr>
          <p:cNvPr id="113" name="Team dot 6"/>
          <p:cNvSpPr/>
          <p:nvPr/>
        </p:nvSpPr>
        <p:spPr>
          <a:xfrm>
            <a:off x="6492240" y="4471416"/>
            <a:ext cx="73152" cy="7315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14" name="Team name 6"/>
          <p:cNvSpPr txBox="1"/>
          <p:nvPr/>
        </p:nvSpPr>
        <p:spPr>
          <a:xfrm>
            <a:off x="6656832" y="440740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Ahmed Abdelreman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1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1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91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21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itle 2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proposal matters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6" name="Statement 23"/>
          <p:cNvSpPr txBox="1"/>
          <p:nvPr/>
        </p:nvSpPr>
        <p:spPr>
          <a:xfrm>
            <a:off x="457200" y="1371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Storing sensor data is easy.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it into maintenance signals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failures get expensive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real challenge.</a:t>
            </a:r>
            <a:endParaRPr lang="en-US" sz="2100" dirty="0"/>
          </a:p>
        </p:txBody>
      </p:sp>
      <p:sp>
        <p:nvSpPr>
          <p:cNvPr id="7" name="Row 24"/>
          <p:cNvSpPr/>
          <p:nvPr/>
        </p:nvSpPr>
        <p:spPr>
          <a:xfrm>
            <a:off x="4572000" y="128016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8" name="Row 24"/>
          <p:cNvSpPr/>
          <p:nvPr/>
        </p:nvSpPr>
        <p:spPr>
          <a:xfrm>
            <a:off x="4709160" y="1399032"/>
            <a:ext cx="420624" cy="420624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con 2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522" y="1508394"/>
            <a:ext cx="201900" cy="201900"/>
          </a:xfrm>
          <a:prstGeom prst="rect">
            <a:avLst/>
          </a:prstGeom>
        </p:spPr>
      </p:pic>
      <p:sp>
        <p:nvSpPr>
          <p:cNvPr id="10" name="Row 24"/>
          <p:cNvSpPr txBox="1"/>
          <p:nvPr/>
        </p:nvSpPr>
        <p:spPr>
          <a:xfrm>
            <a:off x="5285232" y="1371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sensor events</a:t>
            </a:r>
            <a:endParaRPr lang="en-US" sz="1400" dirty="0"/>
          </a:p>
        </p:txBody>
      </p:sp>
      <p:sp>
        <p:nvSpPr>
          <p:cNvPr id="11" name="Row 24"/>
          <p:cNvSpPr txBox="1"/>
          <p:nvPr/>
        </p:nvSpPr>
        <p:spPr>
          <a:xfrm>
            <a:off x="5285232" y="16184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arrive every few seconds, nonstop.</a:t>
            </a:r>
            <a:endParaRPr lang="en-US" sz="1100" dirty="0"/>
          </a:p>
        </p:txBody>
      </p:sp>
      <p:sp>
        <p:nvSpPr>
          <p:cNvPr id="12" name="Row 26"/>
          <p:cNvSpPr/>
          <p:nvPr/>
        </p:nvSpPr>
        <p:spPr>
          <a:xfrm>
            <a:off x="4572000" y="205740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3" name="Row 26"/>
          <p:cNvSpPr/>
          <p:nvPr/>
        </p:nvSpPr>
        <p:spPr>
          <a:xfrm>
            <a:off x="4709160" y="2176272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con 2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22" y="2285634"/>
            <a:ext cx="201900" cy="201900"/>
          </a:xfrm>
          <a:prstGeom prst="rect">
            <a:avLst/>
          </a:prstGeom>
        </p:spPr>
      </p:pic>
      <p:sp>
        <p:nvSpPr>
          <p:cNvPr id="15" name="Row 26"/>
          <p:cNvSpPr txBox="1"/>
          <p:nvPr/>
        </p:nvSpPr>
        <p:spPr>
          <a:xfrm>
            <a:off x="5285232" y="21488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pressure changes</a:t>
            </a:r>
            <a:endParaRPr lang="en-US" sz="1400" dirty="0"/>
          </a:p>
        </p:txBody>
      </p:sp>
      <p:sp>
        <p:nvSpPr>
          <p:cNvPr id="16" name="Row 26"/>
          <p:cNvSpPr txBox="1"/>
          <p:nvPr/>
        </p:nvSpPr>
        <p:spPr>
          <a:xfrm>
            <a:off x="5285232" y="23957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are slow and miss early signs.</a:t>
            </a:r>
            <a:endParaRPr lang="en-US" sz="1100" dirty="0"/>
          </a:p>
        </p:txBody>
      </p:sp>
      <p:sp>
        <p:nvSpPr>
          <p:cNvPr id="17" name="Row 28"/>
          <p:cNvSpPr/>
          <p:nvPr/>
        </p:nvSpPr>
        <p:spPr>
          <a:xfrm>
            <a:off x="4572000" y="283464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8" name="Row 28"/>
          <p:cNvSpPr/>
          <p:nvPr/>
        </p:nvSpPr>
        <p:spPr>
          <a:xfrm>
            <a:off x="4709160" y="2953512"/>
            <a:ext cx="420624" cy="420624"/>
          </a:xfrm>
          <a:prstGeom prst="ellipse">
            <a:avLst/>
          </a:prstGeom>
          <a:solidFill>
            <a:srgbClr val="FFE4E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9" name="Icon 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22" y="3062874"/>
            <a:ext cx="201900" cy="201900"/>
          </a:xfrm>
          <a:prstGeom prst="rect">
            <a:avLst/>
          </a:prstGeom>
        </p:spPr>
      </p:pic>
      <p:sp>
        <p:nvSpPr>
          <p:cNvPr id="20" name="Row 28"/>
          <p:cNvSpPr txBox="1"/>
          <p:nvPr/>
        </p:nvSpPr>
        <p:spPr>
          <a:xfrm>
            <a:off x="5285232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abnormal behavior</a:t>
            </a:r>
            <a:endParaRPr lang="en-US" sz="1400" dirty="0"/>
          </a:p>
        </p:txBody>
      </p:sp>
      <p:sp>
        <p:nvSpPr>
          <p:cNvPr id="21" name="Row 28"/>
          <p:cNvSpPr txBox="1"/>
          <p:nvPr/>
        </p:nvSpPr>
        <p:spPr>
          <a:xfrm>
            <a:off x="5285232" y="31729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streaming can watch every single reading.</a:t>
            </a:r>
            <a:endParaRPr lang="en-US" sz="1100" dirty="0"/>
          </a:p>
        </p:txBody>
      </p:sp>
      <p:sp>
        <p:nvSpPr>
          <p:cNvPr id="22" name="Purpose 30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0F4F8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3" name="Purpose 30"/>
          <p:cNvSpPr txBox="1"/>
          <p:nvPr/>
        </p:nvSpPr>
        <p:spPr>
          <a:xfrm>
            <a:off x="68580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PURPOSE</a:t>
            </a:r>
            <a:endParaRPr lang="en-US" sz="1100" dirty="0"/>
          </a:p>
        </p:txBody>
      </p:sp>
      <p:sp>
        <p:nvSpPr>
          <p:cNvPr id="24" name="Purpose 30"/>
          <p:cNvSpPr txBox="1"/>
          <p:nvPr/>
        </p:nvSpPr>
        <p:spPr>
          <a:xfrm>
            <a:off x="2514600" y="38404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big data pipeline that detects unusual compressor behavior and presents it clearly to decision makers.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600"/>
                            </p:stCondLst>
                            <p:childTnLst>
                              <p:par>
                                <p:cTn id="9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31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3" name="Title 3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MetroPT-3 industrial IoT dataset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6" name="Stat 33"/>
          <p:cNvSpPr/>
          <p:nvPr/>
        </p:nvSpPr>
        <p:spPr>
          <a:xfrm>
            <a:off x="457200" y="128016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Stat 33"/>
          <p:cNvSpPr txBox="1"/>
          <p:nvPr/>
        </p:nvSpPr>
        <p:spPr>
          <a:xfrm>
            <a:off x="4572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1.5M+</a:t>
            </a:r>
            <a:endParaRPr lang="en-US" sz="3600" dirty="0"/>
          </a:p>
        </p:txBody>
      </p:sp>
      <p:sp>
        <p:nvSpPr>
          <p:cNvPr id="8" name="Stat 33"/>
          <p:cNvSpPr txBox="1"/>
          <p:nvPr/>
        </p:nvSpPr>
        <p:spPr>
          <a:xfrm>
            <a:off x="45720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records</a:t>
            </a:r>
            <a:endParaRPr lang="en-US" sz="1200" dirty="0"/>
          </a:p>
        </p:txBody>
      </p:sp>
      <p:sp>
        <p:nvSpPr>
          <p:cNvPr id="9" name="Stat 34"/>
          <p:cNvSpPr/>
          <p:nvPr/>
        </p:nvSpPr>
        <p:spPr>
          <a:xfrm>
            <a:off x="2286000" y="128016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tat 34"/>
          <p:cNvSpPr txBox="1"/>
          <p:nvPr/>
        </p:nvSpPr>
        <p:spPr>
          <a:xfrm>
            <a:off x="22860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11" name="Stat 34"/>
          <p:cNvSpPr txBox="1"/>
          <p:nvPr/>
        </p:nvSpPr>
        <p:spPr>
          <a:xfrm>
            <a:off x="228600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features</a:t>
            </a:r>
            <a:endParaRPr lang="en-US" sz="1200" dirty="0"/>
          </a:p>
        </p:txBody>
      </p:sp>
      <p:sp>
        <p:nvSpPr>
          <p:cNvPr id="12" name="Stat 35"/>
          <p:cNvSpPr/>
          <p:nvPr/>
        </p:nvSpPr>
        <p:spPr>
          <a:xfrm>
            <a:off x="4114800" y="128016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3" name="Stat 35"/>
          <p:cNvSpPr txBox="1"/>
          <p:nvPr/>
        </p:nvSpPr>
        <p:spPr>
          <a:xfrm>
            <a:off x="41148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3600" dirty="0"/>
          </a:p>
        </p:txBody>
      </p:sp>
      <p:sp>
        <p:nvSpPr>
          <p:cNvPr id="14" name="Stat 35"/>
          <p:cNvSpPr txBox="1"/>
          <p:nvPr/>
        </p:nvSpPr>
        <p:spPr>
          <a:xfrm>
            <a:off x="411480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range</a:t>
            </a:r>
            <a:endParaRPr lang="en-US" sz="1200" dirty="0"/>
          </a:p>
        </p:txBody>
      </p:sp>
      <p:sp>
        <p:nvSpPr>
          <p:cNvPr id="15" name="Label 36"/>
          <p:cNvSpPr txBox="1"/>
          <p:nvPr/>
        </p:nvSpPr>
        <p:spPr>
          <a:xfrm>
            <a:off x="457200" y="2788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GROUPS</a:t>
            </a:r>
            <a:endParaRPr lang="en-US" sz="1000" dirty="0"/>
          </a:p>
        </p:txBody>
      </p:sp>
      <p:sp>
        <p:nvSpPr>
          <p:cNvPr id="16" name="Group 37"/>
          <p:cNvSpPr/>
          <p:nvPr/>
        </p:nvSpPr>
        <p:spPr>
          <a:xfrm>
            <a:off x="457200" y="31089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7" name="Group 37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con 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392424"/>
            <a:ext cx="219456" cy="219456"/>
          </a:xfrm>
          <a:prstGeom prst="rect">
            <a:avLst/>
          </a:prstGeom>
        </p:spPr>
      </p:pic>
      <p:sp>
        <p:nvSpPr>
          <p:cNvPr id="19" name="Group 37"/>
          <p:cNvSpPr txBox="1"/>
          <p:nvPr/>
        </p:nvSpPr>
        <p:spPr>
          <a:xfrm>
            <a:off x="64008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400" dirty="0"/>
          </a:p>
        </p:txBody>
      </p:sp>
      <p:sp>
        <p:nvSpPr>
          <p:cNvPr id="20" name="Group 37"/>
          <p:cNvSpPr txBox="1"/>
          <p:nvPr/>
        </p:nvSpPr>
        <p:spPr>
          <a:xfrm>
            <a:off x="64008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 · TP3 · Reservoirs</a:t>
            </a:r>
            <a:endParaRPr lang="en-US" sz="1100" dirty="0"/>
          </a:p>
        </p:txBody>
      </p:sp>
      <p:sp>
        <p:nvSpPr>
          <p:cNvPr id="21" name="Group 39"/>
          <p:cNvSpPr/>
          <p:nvPr/>
        </p:nvSpPr>
        <p:spPr>
          <a:xfrm>
            <a:off x="2286000" y="31089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2" name="Group 39"/>
          <p:cNvSpPr/>
          <p:nvPr/>
        </p:nvSpPr>
        <p:spPr>
          <a:xfrm>
            <a:off x="2468880" y="3273552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con 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3392424"/>
            <a:ext cx="219456" cy="219456"/>
          </a:xfrm>
          <a:prstGeom prst="rect">
            <a:avLst/>
          </a:prstGeom>
        </p:spPr>
      </p:pic>
      <p:sp>
        <p:nvSpPr>
          <p:cNvPr id="24" name="Group 39"/>
          <p:cNvSpPr txBox="1"/>
          <p:nvPr/>
        </p:nvSpPr>
        <p:spPr>
          <a:xfrm>
            <a:off x="246888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25" name="Group 39"/>
          <p:cNvSpPr txBox="1"/>
          <p:nvPr/>
        </p:nvSpPr>
        <p:spPr>
          <a:xfrm>
            <a:off x="246888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temperature</a:t>
            </a:r>
            <a:endParaRPr lang="en-US" sz="1100" dirty="0"/>
          </a:p>
        </p:txBody>
      </p:sp>
      <p:sp>
        <p:nvSpPr>
          <p:cNvPr id="26" name="Group 41"/>
          <p:cNvSpPr/>
          <p:nvPr/>
        </p:nvSpPr>
        <p:spPr>
          <a:xfrm>
            <a:off x="4114800" y="310896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7" name="Group 41"/>
          <p:cNvSpPr/>
          <p:nvPr/>
        </p:nvSpPr>
        <p:spPr>
          <a:xfrm>
            <a:off x="4297680" y="3273552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con 4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3392424"/>
            <a:ext cx="219456" cy="219456"/>
          </a:xfrm>
          <a:prstGeom prst="rect">
            <a:avLst/>
          </a:prstGeom>
        </p:spPr>
      </p:pic>
      <p:sp>
        <p:nvSpPr>
          <p:cNvPr id="29" name="Group 41"/>
          <p:cNvSpPr txBox="1"/>
          <p:nvPr/>
        </p:nvSpPr>
        <p:spPr>
          <a:xfrm>
            <a:off x="429768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400" dirty="0"/>
          </a:p>
        </p:txBody>
      </p:sp>
      <p:sp>
        <p:nvSpPr>
          <p:cNvPr id="30" name="Group 41"/>
          <p:cNvSpPr txBox="1"/>
          <p:nvPr/>
        </p:nvSpPr>
        <p:spPr>
          <a:xfrm>
            <a:off x="429768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current</a:t>
            </a:r>
            <a:endParaRPr lang="en-US" sz="1100" dirty="0"/>
          </a:p>
        </p:txBody>
      </p:sp>
      <p:sp>
        <p:nvSpPr>
          <p:cNvPr id="31" name="Why card 43"/>
          <p:cNvSpPr/>
          <p:nvPr/>
        </p:nvSpPr>
        <p:spPr>
          <a:xfrm>
            <a:off x="6035040" y="12801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2" name="Why card 43"/>
          <p:cNvSpPr txBox="1"/>
          <p:nvPr/>
        </p:nvSpPr>
        <p:spPr>
          <a:xfrm>
            <a:off x="626364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fits</a:t>
            </a:r>
            <a:endParaRPr lang="en-US" sz="1800" dirty="0"/>
          </a:p>
        </p:txBody>
      </p:sp>
      <p:sp>
        <p:nvSpPr>
          <p:cNvPr id="33" name="Reason 44"/>
          <p:cNvSpPr/>
          <p:nvPr/>
        </p:nvSpPr>
        <p:spPr>
          <a:xfrm>
            <a:off x="6263640" y="1993392"/>
            <a:ext cx="237744" cy="237744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pic>
        <p:nvPicPr>
          <p:cNvPr id="34" name="Reason 44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2048256"/>
            <a:ext cx="128016" cy="128016"/>
          </a:xfrm>
          <a:prstGeom prst="rect">
            <a:avLst/>
          </a:prstGeom>
        </p:spPr>
      </p:pic>
      <p:sp>
        <p:nvSpPr>
          <p:cNvPr id="35" name="Reason 44t"/>
          <p:cNvSpPr txBox="1"/>
          <p:nvPr/>
        </p:nvSpPr>
        <p:spPr>
          <a:xfrm>
            <a:off x="6629400" y="1965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behavior matches streaming windows</a:t>
            </a:r>
            <a:endParaRPr lang="en-US" sz="1200" dirty="0"/>
          </a:p>
        </p:txBody>
      </p:sp>
      <p:sp>
        <p:nvSpPr>
          <p:cNvPr id="36" name="Reason 45"/>
          <p:cNvSpPr/>
          <p:nvPr/>
        </p:nvSpPr>
        <p:spPr>
          <a:xfrm>
            <a:off x="6263640" y="2596896"/>
            <a:ext cx="237744" cy="237744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pic>
        <p:nvPicPr>
          <p:cNvPr id="37" name="Reason 45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2651760"/>
            <a:ext cx="128016" cy="128016"/>
          </a:xfrm>
          <a:prstGeom prst="rect">
            <a:avLst/>
          </a:prstGeom>
        </p:spPr>
      </p:pic>
      <p:sp>
        <p:nvSpPr>
          <p:cNvPr id="38" name="Reason 45t"/>
          <p:cNvSpPr txBox="1"/>
          <p:nvPr/>
        </p:nvSpPr>
        <p:spPr>
          <a:xfrm>
            <a:off x="6629400" y="25694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compressor operation, not synthetic data</a:t>
            </a:r>
            <a:endParaRPr lang="en-US" sz="1200" dirty="0"/>
          </a:p>
        </p:txBody>
      </p:sp>
      <p:sp>
        <p:nvSpPr>
          <p:cNvPr id="39" name="Reason 46"/>
          <p:cNvSpPr/>
          <p:nvPr/>
        </p:nvSpPr>
        <p:spPr>
          <a:xfrm>
            <a:off x="6263640" y="3200400"/>
            <a:ext cx="237744" cy="237744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pic>
        <p:nvPicPr>
          <p:cNvPr id="40" name="Reason 46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255264"/>
            <a:ext cx="128016" cy="128016"/>
          </a:xfrm>
          <a:prstGeom prst="rect">
            <a:avLst/>
          </a:prstGeom>
        </p:spPr>
      </p:pic>
      <p:sp>
        <p:nvSpPr>
          <p:cNvPr id="41" name="Reason 46t"/>
          <p:cNvSpPr txBox="1"/>
          <p:nvPr/>
        </p:nvSpPr>
        <p:spPr>
          <a:xfrm>
            <a:off x="6629400" y="3172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anomaly detection without labels</a:t>
            </a:r>
            <a:endParaRPr lang="en-US" sz="1200" dirty="0"/>
          </a:p>
        </p:txBody>
      </p:sp>
      <p:sp>
        <p:nvSpPr>
          <p:cNvPr id="42" name="Reason 47"/>
          <p:cNvSpPr/>
          <p:nvPr/>
        </p:nvSpPr>
        <p:spPr>
          <a:xfrm>
            <a:off x="6263640" y="3803904"/>
            <a:ext cx="237744" cy="237744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pic>
        <p:nvPicPr>
          <p:cNvPr id="43" name="Reason 47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3858768"/>
            <a:ext cx="128016" cy="128016"/>
          </a:xfrm>
          <a:prstGeom prst="rect">
            <a:avLst/>
          </a:prstGeom>
        </p:spPr>
      </p:pic>
      <p:sp>
        <p:nvSpPr>
          <p:cNvPr id="44" name="Reason 47t"/>
          <p:cNvSpPr txBox="1"/>
          <p:nvPr/>
        </p:nvSpPr>
        <p:spPr>
          <a:xfrm>
            <a:off x="6629400" y="37764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replayed at controlled speeds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6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150"/>
                            </p:stCondLst>
                            <p:childTnLst>
                              <p:par>
                                <p:cTn id="1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48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itle 49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6" name="Stage 50"/>
          <p:cNvSpPr/>
          <p:nvPr/>
        </p:nvSpPr>
        <p:spPr>
          <a:xfrm>
            <a:off x="457200" y="1234440"/>
            <a:ext cx="1481328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Stage 50"/>
          <p:cNvSpPr txBox="1"/>
          <p:nvPr/>
        </p:nvSpPr>
        <p:spPr>
          <a:xfrm>
            <a:off x="594360" y="1371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tage 50"/>
          <p:cNvSpPr/>
          <p:nvPr/>
        </p:nvSpPr>
        <p:spPr>
          <a:xfrm>
            <a:off x="1371600" y="1362456"/>
            <a:ext cx="438912" cy="438912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con 5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717" y="1476573"/>
            <a:ext cx="210678" cy="210678"/>
          </a:xfrm>
          <a:prstGeom prst="rect">
            <a:avLst/>
          </a:prstGeom>
        </p:spPr>
      </p:pic>
      <p:sp>
        <p:nvSpPr>
          <p:cNvPr id="10" name="Stage 50"/>
          <p:cNvSpPr txBox="1"/>
          <p:nvPr/>
        </p:nvSpPr>
        <p:spPr>
          <a:xfrm>
            <a:off x="594360" y="18928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1" name="Stage 50"/>
          <p:cNvSpPr txBox="1"/>
          <p:nvPr/>
        </p:nvSpPr>
        <p:spPr>
          <a:xfrm>
            <a:off x="594360" y="20848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MetroPT-3</a:t>
            </a:r>
            <a:endParaRPr lang="en-US" sz="1400" dirty="0"/>
          </a:p>
        </p:txBody>
      </p:sp>
      <p:sp>
        <p:nvSpPr>
          <p:cNvPr id="12" name="Stage 50"/>
          <p:cNvSpPr txBox="1"/>
          <p:nvPr/>
        </p:nvSpPr>
        <p:spPr>
          <a:xfrm>
            <a:off x="594360" y="23774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replayed as a live stream</a:t>
            </a:r>
            <a:endParaRPr lang="en-US" sz="1050" dirty="0"/>
          </a:p>
        </p:txBody>
      </p:sp>
      <p:sp>
        <p:nvSpPr>
          <p:cNvPr id="13" name="Arrow 52"/>
          <p:cNvSpPr/>
          <p:nvPr/>
        </p:nvSpPr>
        <p:spPr>
          <a:xfrm>
            <a:off x="1970532" y="1965960"/>
            <a:ext cx="141732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tage 53"/>
          <p:cNvSpPr/>
          <p:nvPr/>
        </p:nvSpPr>
        <p:spPr>
          <a:xfrm>
            <a:off x="2144268" y="1234440"/>
            <a:ext cx="1481328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5" name="Stage 53"/>
          <p:cNvSpPr txBox="1"/>
          <p:nvPr/>
        </p:nvSpPr>
        <p:spPr>
          <a:xfrm>
            <a:off x="2281428" y="1371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tage 53"/>
          <p:cNvSpPr/>
          <p:nvPr/>
        </p:nvSpPr>
        <p:spPr>
          <a:xfrm>
            <a:off x="3058668" y="1362456"/>
            <a:ext cx="438912" cy="438912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con 5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785" y="1476573"/>
            <a:ext cx="210678" cy="210678"/>
          </a:xfrm>
          <a:prstGeom prst="rect">
            <a:avLst/>
          </a:prstGeom>
        </p:spPr>
      </p:pic>
      <p:sp>
        <p:nvSpPr>
          <p:cNvPr id="18" name="Stage 53"/>
          <p:cNvSpPr txBox="1"/>
          <p:nvPr/>
        </p:nvSpPr>
        <p:spPr>
          <a:xfrm>
            <a:off x="2281428" y="18928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19" name="Stage 53"/>
          <p:cNvSpPr txBox="1"/>
          <p:nvPr/>
        </p:nvSpPr>
        <p:spPr>
          <a:xfrm>
            <a:off x="2281428" y="20848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20" name="Stage 53"/>
          <p:cNvSpPr txBox="1"/>
          <p:nvPr/>
        </p:nvSpPr>
        <p:spPr>
          <a:xfrm>
            <a:off x="2281428" y="23774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events in a topic</a:t>
            </a:r>
            <a:endParaRPr lang="en-US" sz="1050" dirty="0"/>
          </a:p>
        </p:txBody>
      </p:sp>
      <p:sp>
        <p:nvSpPr>
          <p:cNvPr id="21" name="Arrow 55"/>
          <p:cNvSpPr/>
          <p:nvPr/>
        </p:nvSpPr>
        <p:spPr>
          <a:xfrm>
            <a:off x="3657600" y="1965960"/>
            <a:ext cx="141732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tage 56"/>
          <p:cNvSpPr/>
          <p:nvPr/>
        </p:nvSpPr>
        <p:spPr>
          <a:xfrm>
            <a:off x="3831336" y="1234440"/>
            <a:ext cx="1481328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3" name="Stage 56"/>
          <p:cNvSpPr txBox="1"/>
          <p:nvPr/>
        </p:nvSpPr>
        <p:spPr>
          <a:xfrm>
            <a:off x="3968496" y="1371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tage 56"/>
          <p:cNvSpPr/>
          <p:nvPr/>
        </p:nvSpPr>
        <p:spPr>
          <a:xfrm>
            <a:off x="4745736" y="1362456"/>
            <a:ext cx="438912" cy="438912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5" name="Icon 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853" y="1476573"/>
            <a:ext cx="210678" cy="210678"/>
          </a:xfrm>
          <a:prstGeom prst="rect">
            <a:avLst/>
          </a:prstGeom>
        </p:spPr>
      </p:pic>
      <p:sp>
        <p:nvSpPr>
          <p:cNvPr id="26" name="Stage 56"/>
          <p:cNvSpPr txBox="1"/>
          <p:nvPr/>
        </p:nvSpPr>
        <p:spPr>
          <a:xfrm>
            <a:off x="3968496" y="18928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27" name="Stage 56"/>
          <p:cNvSpPr txBox="1"/>
          <p:nvPr/>
        </p:nvSpPr>
        <p:spPr>
          <a:xfrm>
            <a:off x="3968496" y="20848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400" dirty="0"/>
          </a:p>
        </p:txBody>
      </p:sp>
      <p:sp>
        <p:nvSpPr>
          <p:cNvPr id="28" name="Stage 56"/>
          <p:cNvSpPr txBox="1"/>
          <p:nvPr/>
        </p:nvSpPr>
        <p:spPr>
          <a:xfrm>
            <a:off x="3968496" y="23774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Streaming, windowed KPIs</a:t>
            </a:r>
            <a:endParaRPr lang="en-US" sz="1050" dirty="0"/>
          </a:p>
        </p:txBody>
      </p:sp>
      <p:sp>
        <p:nvSpPr>
          <p:cNvPr id="29" name="Arrow 58"/>
          <p:cNvSpPr/>
          <p:nvPr/>
        </p:nvSpPr>
        <p:spPr>
          <a:xfrm>
            <a:off x="5344668" y="1965960"/>
            <a:ext cx="141732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tage 59"/>
          <p:cNvSpPr/>
          <p:nvPr/>
        </p:nvSpPr>
        <p:spPr>
          <a:xfrm>
            <a:off x="5518404" y="1234440"/>
            <a:ext cx="1481328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1" name="Stage 59"/>
          <p:cNvSpPr txBox="1"/>
          <p:nvPr/>
        </p:nvSpPr>
        <p:spPr>
          <a:xfrm>
            <a:off x="5655564" y="1371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Stage 59"/>
          <p:cNvSpPr/>
          <p:nvPr/>
        </p:nvSpPr>
        <p:spPr>
          <a:xfrm>
            <a:off x="6432804" y="1362456"/>
            <a:ext cx="438912" cy="438912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3" name="Icon 6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921" y="1476573"/>
            <a:ext cx="210678" cy="210678"/>
          </a:xfrm>
          <a:prstGeom prst="rect">
            <a:avLst/>
          </a:prstGeom>
        </p:spPr>
      </p:pic>
      <p:sp>
        <p:nvSpPr>
          <p:cNvPr id="34" name="Stage 59"/>
          <p:cNvSpPr txBox="1"/>
          <p:nvPr/>
        </p:nvSpPr>
        <p:spPr>
          <a:xfrm>
            <a:off x="5655564" y="18928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35" name="Stage 59"/>
          <p:cNvSpPr txBox="1"/>
          <p:nvPr/>
        </p:nvSpPr>
        <p:spPr>
          <a:xfrm>
            <a:off x="5655564" y="20848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6" name="Stage 59"/>
          <p:cNvSpPr txBox="1"/>
          <p:nvPr/>
        </p:nvSpPr>
        <p:spPr>
          <a:xfrm>
            <a:off x="5655564" y="23774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+ AI predictions</a:t>
            </a:r>
            <a:endParaRPr lang="en-US" sz="1050" dirty="0"/>
          </a:p>
        </p:txBody>
      </p:sp>
      <p:sp>
        <p:nvSpPr>
          <p:cNvPr id="37" name="Arrow 61"/>
          <p:cNvSpPr/>
          <p:nvPr/>
        </p:nvSpPr>
        <p:spPr>
          <a:xfrm>
            <a:off x="7031736" y="1965960"/>
            <a:ext cx="141732" cy="18288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tage 62"/>
          <p:cNvSpPr/>
          <p:nvPr/>
        </p:nvSpPr>
        <p:spPr>
          <a:xfrm>
            <a:off x="7205472" y="1234440"/>
            <a:ext cx="1481328" cy="164592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9" name="Stage 62"/>
          <p:cNvSpPr txBox="1"/>
          <p:nvPr/>
        </p:nvSpPr>
        <p:spPr>
          <a:xfrm>
            <a:off x="7342632" y="1371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Stage 62"/>
          <p:cNvSpPr/>
          <p:nvPr/>
        </p:nvSpPr>
        <p:spPr>
          <a:xfrm>
            <a:off x="8119872" y="1362456"/>
            <a:ext cx="438912" cy="438912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1" name="Icon 6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3989" y="1476573"/>
            <a:ext cx="210678" cy="210678"/>
          </a:xfrm>
          <a:prstGeom prst="rect">
            <a:avLst/>
          </a:prstGeom>
        </p:spPr>
      </p:pic>
      <p:sp>
        <p:nvSpPr>
          <p:cNvPr id="42" name="Stage 62"/>
          <p:cNvSpPr txBox="1"/>
          <p:nvPr/>
        </p:nvSpPr>
        <p:spPr>
          <a:xfrm>
            <a:off x="7342632" y="18928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43" name="Stage 62"/>
          <p:cNvSpPr txBox="1"/>
          <p:nvPr/>
        </p:nvSpPr>
        <p:spPr>
          <a:xfrm>
            <a:off x="7342632" y="20848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</a:t>
            </a:r>
            <a:endParaRPr lang="en-US" sz="1400" dirty="0"/>
          </a:p>
        </p:txBody>
      </p:sp>
      <p:sp>
        <p:nvSpPr>
          <p:cNvPr id="44" name="Stage 62"/>
          <p:cNvSpPr txBox="1"/>
          <p:nvPr/>
        </p:nvSpPr>
        <p:spPr>
          <a:xfrm>
            <a:off x="7342632" y="23774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decisions</a:t>
            </a:r>
            <a:endParaRPr lang="en-US" sz="1050" dirty="0"/>
          </a:p>
        </p:txBody>
      </p:sp>
      <p:sp>
        <p:nvSpPr>
          <p:cNvPr id="45" name="Link 64"/>
          <p:cNvSpPr/>
          <p:nvPr/>
        </p:nvSpPr>
        <p:spPr>
          <a:xfrm>
            <a:off x="4572000" y="2880360"/>
            <a:ext cx="0" cy="41148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  <a:tailEnd type="triangle"/>
          </a:ln>
        </p:spPr>
      </p:sp>
      <p:sp>
        <p:nvSpPr>
          <p:cNvPr id="46" name="Link 65"/>
          <p:cNvSpPr/>
          <p:nvPr/>
        </p:nvSpPr>
        <p:spPr>
          <a:xfrm>
            <a:off x="6259068" y="2880360"/>
            <a:ext cx="0" cy="41148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  <a:headEnd type="triangle"/>
          </a:ln>
        </p:spPr>
      </p:sp>
      <p:sp>
        <p:nvSpPr>
          <p:cNvPr id="47" name="Label 66"/>
          <p:cNvSpPr txBox="1"/>
          <p:nvPr/>
        </p:nvSpPr>
        <p:spPr>
          <a:xfrm>
            <a:off x="3703320" y="29809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8" name="Label 67"/>
          <p:cNvSpPr txBox="1"/>
          <p:nvPr/>
        </p:nvSpPr>
        <p:spPr>
          <a:xfrm>
            <a:off x="6350508" y="29809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900" dirty="0"/>
          </a:p>
        </p:txBody>
      </p:sp>
      <p:sp>
        <p:nvSpPr>
          <p:cNvPr id="49" name="AI 68"/>
          <p:cNvSpPr/>
          <p:nvPr/>
        </p:nvSpPr>
        <p:spPr>
          <a:xfrm>
            <a:off x="3749040" y="3291840"/>
            <a:ext cx="3332988" cy="713232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0" name="AI 68"/>
          <p:cNvSpPr/>
          <p:nvPr/>
        </p:nvSpPr>
        <p:spPr>
          <a:xfrm>
            <a:off x="3886200" y="3419856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1" name="Icon 6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5072" y="3538728"/>
            <a:ext cx="219456" cy="219456"/>
          </a:xfrm>
          <a:prstGeom prst="rect">
            <a:avLst/>
          </a:prstGeom>
        </p:spPr>
      </p:pic>
      <p:sp>
        <p:nvSpPr>
          <p:cNvPr id="52" name="AI 68"/>
          <p:cNvSpPr txBox="1"/>
          <p:nvPr/>
        </p:nvSpPr>
        <p:spPr>
          <a:xfrm>
            <a:off x="4462272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· Spark MLlib K-Means</a:t>
            </a:r>
            <a:endParaRPr lang="en-US" sz="1400" dirty="0"/>
          </a:p>
        </p:txBody>
      </p:sp>
      <p:sp>
        <p:nvSpPr>
          <p:cNvPr id="53" name="AI 68"/>
          <p:cNvSpPr txBox="1"/>
          <p:nvPr/>
        </p:nvSpPr>
        <p:spPr>
          <a:xfrm>
            <a:off x="4462272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normal behavior, scores each event</a:t>
            </a:r>
            <a:endParaRPr lang="en-US" sz="1100" dirty="0"/>
          </a:p>
        </p:txBody>
      </p:sp>
      <p:sp>
        <p:nvSpPr>
          <p:cNvPr id="54" name="Caption 70"/>
          <p:cNvSpPr txBox="1"/>
          <p:nvPr/>
        </p:nvSpPr>
        <p:spPr>
          <a:xfrm>
            <a:off x="457200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stack, end to end: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→ model → store → visualize</a:t>
            </a:r>
            <a:endParaRPr lang="en-US" sz="1200" dirty="0"/>
          </a:p>
        </p:txBody>
      </p:sp>
      <p:sp>
        <p:nvSpPr>
          <p:cNvPr id="55" name="Infra 71"/>
          <p:cNvSpPr/>
          <p:nvPr/>
        </p:nvSpPr>
        <p:spPr>
          <a:xfrm>
            <a:off x="457200" y="4160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56" name="Infra 71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270248"/>
            <a:ext cx="237744" cy="237744"/>
          </a:xfrm>
          <a:prstGeom prst="rect">
            <a:avLst/>
          </a:prstGeom>
        </p:spPr>
      </p:pic>
      <p:sp>
        <p:nvSpPr>
          <p:cNvPr id="57" name="Infra 71t"/>
          <p:cNvSpPr txBox="1"/>
          <p:nvPr/>
        </p:nvSpPr>
        <p:spPr>
          <a:xfrm>
            <a:off x="987552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health checks</a:t>
            </a:r>
            <a:endParaRPr lang="en-US" sz="1200" dirty="0"/>
          </a:p>
        </p:txBody>
      </p:sp>
      <p:sp>
        <p:nvSpPr>
          <p:cNvPr id="58" name="Infra 72"/>
          <p:cNvSpPr/>
          <p:nvPr/>
        </p:nvSpPr>
        <p:spPr>
          <a:xfrm>
            <a:off x="4663440" y="4160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59" name="Infra 72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270248"/>
            <a:ext cx="237744" cy="237744"/>
          </a:xfrm>
          <a:prstGeom prst="rect">
            <a:avLst/>
          </a:prstGeom>
        </p:spPr>
      </p:pic>
      <p:sp>
        <p:nvSpPr>
          <p:cNvPr id="60" name="Infra 72t"/>
          <p:cNvSpPr txBox="1"/>
          <p:nvPr/>
        </p:nvSpPr>
        <p:spPr>
          <a:xfrm>
            <a:off x="5193792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one-command setup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90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355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6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1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6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1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6" dur="7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7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1" dur="7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7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7" grpId="0" animBg="1"/>
      <p:bldP spid="58" grpId="0" animBg="1"/>
      <p:bldP spid="6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73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000" dirty="0"/>
          </a:p>
        </p:txBody>
      </p:sp>
      <p:sp>
        <p:nvSpPr>
          <p:cNvPr id="3" name="Title 74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ingestion with Kafka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6" name="Lead 7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decouples data generation from processing, so Spark consumes the sensor stream reliably.</a:t>
            </a:r>
            <a:endParaRPr lang="en-US" sz="1400" dirty="0"/>
          </a:p>
        </p:txBody>
      </p:sp>
      <p:sp>
        <p:nvSpPr>
          <p:cNvPr id="7" name="Node 76"/>
          <p:cNvSpPr/>
          <p:nvPr/>
        </p:nvSpPr>
        <p:spPr>
          <a:xfrm>
            <a:off x="914400" y="1600200"/>
            <a:ext cx="868680" cy="868680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con 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1826057"/>
            <a:ext cx="416966" cy="416966"/>
          </a:xfrm>
          <a:prstGeom prst="rect">
            <a:avLst/>
          </a:prstGeom>
        </p:spPr>
      </p:pic>
      <p:sp>
        <p:nvSpPr>
          <p:cNvPr id="9" name="Node 76l"/>
          <p:cNvSpPr txBox="1"/>
          <p:nvPr/>
        </p:nvSpPr>
        <p:spPr>
          <a:xfrm>
            <a:off x="457200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MetroPT-3 CSV</a:t>
            </a:r>
            <a:endParaRPr lang="en-US" sz="1300" dirty="0"/>
          </a:p>
        </p:txBody>
      </p:sp>
      <p:sp>
        <p:nvSpPr>
          <p:cNvPr id="10" name="Flow 78"/>
          <p:cNvSpPr/>
          <p:nvPr/>
        </p:nvSpPr>
        <p:spPr>
          <a:xfrm>
            <a:off x="1892808" y="2034540"/>
            <a:ext cx="1060704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1" name="Node 79"/>
          <p:cNvSpPr/>
          <p:nvPr/>
        </p:nvSpPr>
        <p:spPr>
          <a:xfrm>
            <a:off x="3063240" y="1600200"/>
            <a:ext cx="868680" cy="868680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con 8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097" y="1826057"/>
            <a:ext cx="416966" cy="416966"/>
          </a:xfrm>
          <a:prstGeom prst="rect">
            <a:avLst/>
          </a:prstGeom>
        </p:spPr>
      </p:pic>
      <p:sp>
        <p:nvSpPr>
          <p:cNvPr id="13" name="Node 79l"/>
          <p:cNvSpPr txBox="1"/>
          <p:nvPr/>
        </p:nvSpPr>
        <p:spPr>
          <a:xfrm>
            <a:off x="2606040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producer</a:t>
            </a:r>
            <a:endParaRPr lang="en-US" sz="1300" dirty="0"/>
          </a:p>
        </p:txBody>
      </p:sp>
      <p:sp>
        <p:nvSpPr>
          <p:cNvPr id="14" name="Flow 81"/>
          <p:cNvSpPr/>
          <p:nvPr/>
        </p:nvSpPr>
        <p:spPr>
          <a:xfrm>
            <a:off x="4041648" y="2034540"/>
            <a:ext cx="1060704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5" name="Node 82"/>
          <p:cNvSpPr/>
          <p:nvPr/>
        </p:nvSpPr>
        <p:spPr>
          <a:xfrm>
            <a:off x="5212080" y="1600200"/>
            <a:ext cx="868680" cy="86868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con 8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937" y="1826057"/>
            <a:ext cx="416966" cy="416966"/>
          </a:xfrm>
          <a:prstGeom prst="rect">
            <a:avLst/>
          </a:prstGeom>
        </p:spPr>
      </p:pic>
      <p:sp>
        <p:nvSpPr>
          <p:cNvPr id="17" name="Node 82l"/>
          <p:cNvSpPr txBox="1"/>
          <p:nvPr/>
        </p:nvSpPr>
        <p:spPr>
          <a:xfrm>
            <a:off x="4754880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1300" dirty="0"/>
          </a:p>
        </p:txBody>
      </p:sp>
      <p:sp>
        <p:nvSpPr>
          <p:cNvPr id="18" name="Flow 84"/>
          <p:cNvSpPr/>
          <p:nvPr/>
        </p:nvSpPr>
        <p:spPr>
          <a:xfrm>
            <a:off x="6190488" y="2034540"/>
            <a:ext cx="1060704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9" name="Node 85"/>
          <p:cNvSpPr/>
          <p:nvPr/>
        </p:nvSpPr>
        <p:spPr>
          <a:xfrm>
            <a:off x="7360920" y="1600200"/>
            <a:ext cx="868680" cy="868680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con 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6777" y="1826057"/>
            <a:ext cx="416966" cy="416966"/>
          </a:xfrm>
          <a:prstGeom prst="rect">
            <a:avLst/>
          </a:prstGeom>
        </p:spPr>
      </p:pic>
      <p:sp>
        <p:nvSpPr>
          <p:cNvPr id="21" name="Node 85l"/>
          <p:cNvSpPr txBox="1"/>
          <p:nvPr/>
        </p:nvSpPr>
        <p:spPr>
          <a:xfrm>
            <a:off x="6903720" y="25786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consumer</a:t>
            </a:r>
            <a:endParaRPr lang="en-US" sz="1300" dirty="0"/>
          </a:p>
        </p:txBody>
      </p:sp>
      <p:sp>
        <p:nvSpPr>
          <p:cNvPr id="22" name="Note 87"/>
          <p:cNvSpPr/>
          <p:nvPr/>
        </p:nvSpPr>
        <p:spPr>
          <a:xfrm>
            <a:off x="457200" y="3063240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23" name="Note 87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46120"/>
            <a:ext cx="228600" cy="228600"/>
          </a:xfrm>
          <a:prstGeom prst="rect">
            <a:avLst/>
          </a:prstGeom>
        </p:spPr>
      </p:pic>
      <p:sp>
        <p:nvSpPr>
          <p:cNvPr id="24" name="Note 87t"/>
          <p:cNvSpPr txBox="1"/>
          <p:nvPr/>
        </p:nvSpPr>
        <p:spPr>
          <a:xfrm>
            <a:off x="1051560" y="3063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row becomes one JSON event</a:t>
            </a:r>
            <a:endParaRPr lang="en-US" sz="1300" dirty="0"/>
          </a:p>
        </p:txBody>
      </p:sp>
      <p:sp>
        <p:nvSpPr>
          <p:cNvPr id="25" name="Note 88"/>
          <p:cNvSpPr/>
          <p:nvPr/>
        </p:nvSpPr>
        <p:spPr>
          <a:xfrm>
            <a:off x="4663440" y="3063240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26" name="Note 88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246120"/>
            <a:ext cx="228600" cy="228600"/>
          </a:xfrm>
          <a:prstGeom prst="rect">
            <a:avLst/>
          </a:prstGeom>
        </p:spPr>
      </p:pic>
      <p:sp>
        <p:nvSpPr>
          <p:cNvPr id="27" name="Note 88t"/>
          <p:cNvSpPr txBox="1"/>
          <p:nvPr/>
        </p:nvSpPr>
        <p:spPr>
          <a:xfrm>
            <a:off x="5257800" y="3063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partitions allow parallel consumption</a:t>
            </a:r>
            <a:endParaRPr lang="en-US" sz="1300" dirty="0"/>
          </a:p>
        </p:txBody>
      </p:sp>
      <p:sp>
        <p:nvSpPr>
          <p:cNvPr id="28" name="Note 89"/>
          <p:cNvSpPr/>
          <p:nvPr/>
        </p:nvSpPr>
        <p:spPr>
          <a:xfrm>
            <a:off x="457200" y="3794760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29" name="Note 89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977640"/>
            <a:ext cx="228600" cy="228600"/>
          </a:xfrm>
          <a:prstGeom prst="rect">
            <a:avLst/>
          </a:prstGeom>
        </p:spPr>
      </p:pic>
      <p:sp>
        <p:nvSpPr>
          <p:cNvPr id="30" name="Note 89t"/>
          <p:cNvSpPr txBox="1"/>
          <p:nvPr/>
        </p:nvSpPr>
        <p:spPr>
          <a:xfrm>
            <a:off x="105156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event rate for demos and stress tests</a:t>
            </a:r>
            <a:endParaRPr lang="en-US" sz="1300" dirty="0"/>
          </a:p>
        </p:txBody>
      </p:sp>
      <p:sp>
        <p:nvSpPr>
          <p:cNvPr id="31" name="Note 90"/>
          <p:cNvSpPr/>
          <p:nvPr/>
        </p:nvSpPr>
        <p:spPr>
          <a:xfrm>
            <a:off x="4663440" y="3794760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32" name="Note 90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977640"/>
            <a:ext cx="228600" cy="228600"/>
          </a:xfrm>
          <a:prstGeom prst="rect">
            <a:avLst/>
          </a:prstGeom>
        </p:spPr>
      </p:pic>
      <p:sp>
        <p:nvSpPr>
          <p:cNvPr id="33" name="Note 90t"/>
          <p:cNvSpPr txBox="1"/>
          <p:nvPr/>
        </p:nvSpPr>
        <p:spPr>
          <a:xfrm>
            <a:off x="525780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can be verified live from the terminal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5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91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000" dirty="0"/>
          </a:p>
        </p:txBody>
      </p:sp>
      <p:sp>
        <p:nvSpPr>
          <p:cNvPr id="3" name="Title 9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processing with Spark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6" name="Rail 93"/>
          <p:cNvSpPr/>
          <p:nvPr/>
        </p:nvSpPr>
        <p:spPr>
          <a:xfrm>
            <a:off x="658368" y="1481328"/>
            <a:ext cx="0" cy="246888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7" name="Step 94"/>
          <p:cNvSpPr txBox="1"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tep 94h"/>
          <p:cNvSpPr txBox="1"/>
          <p:nvPr/>
        </p:nvSpPr>
        <p:spPr>
          <a:xfrm>
            <a:off x="1051560" y="1261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events</a:t>
            </a:r>
            <a:endParaRPr lang="en-US" sz="1600" dirty="0"/>
          </a:p>
        </p:txBody>
      </p:sp>
      <p:sp>
        <p:nvSpPr>
          <p:cNvPr id="9" name="Step 94d"/>
          <p:cNvSpPr txBox="1"/>
          <p:nvPr/>
        </p:nvSpPr>
        <p:spPr>
          <a:xfrm>
            <a:off x="1051560" y="15361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every Kafka message into sensor columns</a:t>
            </a:r>
            <a:endParaRPr lang="en-US" sz="1200" dirty="0"/>
          </a:p>
        </p:txBody>
      </p:sp>
      <p:sp>
        <p:nvSpPr>
          <p:cNvPr id="10" name="Step 95"/>
          <p:cNvSpPr txBox="1"/>
          <p:nvPr/>
        </p:nvSpPr>
        <p:spPr>
          <a:xfrm>
            <a:off x="457200" y="2103120"/>
            <a:ext cx="402336" cy="402336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tep 95h"/>
          <p:cNvSpPr txBox="1"/>
          <p:nvPr/>
        </p:nvSpPr>
        <p:spPr>
          <a:xfrm>
            <a:off x="1051560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sensor types</a:t>
            </a:r>
            <a:endParaRPr lang="en-US" sz="1600" dirty="0"/>
          </a:p>
        </p:txBody>
      </p:sp>
      <p:sp>
        <p:nvSpPr>
          <p:cNvPr id="12" name="Step 95d"/>
          <p:cNvSpPr txBox="1"/>
          <p:nvPr/>
        </p:nvSpPr>
        <p:spPr>
          <a:xfrm>
            <a:off x="1051560" y="23591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readings to numbers, drop broken rows</a:t>
            </a:r>
            <a:endParaRPr lang="en-US" sz="1200" dirty="0"/>
          </a:p>
        </p:txBody>
      </p:sp>
      <p:sp>
        <p:nvSpPr>
          <p:cNvPr id="13" name="Step 96"/>
          <p:cNvSpPr txBox="1"/>
          <p:nvPr/>
        </p:nvSpPr>
        <p:spPr>
          <a:xfrm>
            <a:off x="457200" y="2926080"/>
            <a:ext cx="402336" cy="402336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tep 96h"/>
          <p:cNvSpPr txBox="1"/>
          <p:nvPr/>
        </p:nvSpPr>
        <p:spPr>
          <a:xfrm>
            <a:off x="1051560" y="2907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aggregations</a:t>
            </a:r>
            <a:endParaRPr lang="en-US" sz="1600" dirty="0"/>
          </a:p>
        </p:txBody>
      </p:sp>
      <p:sp>
        <p:nvSpPr>
          <p:cNvPr id="15" name="Step 96d"/>
          <p:cNvSpPr txBox="1"/>
          <p:nvPr/>
        </p:nvSpPr>
        <p:spPr>
          <a:xfrm>
            <a:off x="1051560" y="3182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KPIs over 60-second windows</a:t>
            </a:r>
            <a:endParaRPr lang="en-US" sz="1200" dirty="0"/>
          </a:p>
        </p:txBody>
      </p:sp>
      <p:sp>
        <p:nvSpPr>
          <p:cNvPr id="16" name="Step 97"/>
          <p:cNvSpPr txBox="1"/>
          <p:nvPr/>
        </p:nvSpPr>
        <p:spPr>
          <a:xfrm>
            <a:off x="457200" y="3749040"/>
            <a:ext cx="402336" cy="402336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tep 97h"/>
          <p:cNvSpPr txBox="1"/>
          <p:nvPr/>
        </p:nvSpPr>
        <p:spPr>
          <a:xfrm>
            <a:off x="1051560" y="3730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KPIs</a:t>
            </a:r>
            <a:endParaRPr lang="en-US" sz="1600" dirty="0"/>
          </a:p>
        </p:txBody>
      </p:sp>
      <p:sp>
        <p:nvSpPr>
          <p:cNvPr id="18" name="Step 97d"/>
          <p:cNvSpPr txBox="1"/>
          <p:nvPr/>
        </p:nvSpPr>
        <p:spPr>
          <a:xfrm>
            <a:off x="1051560" y="40050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micro-batch to PostgreSQL</a:t>
            </a:r>
            <a:endParaRPr lang="en-US" sz="1200" dirty="0"/>
          </a:p>
        </p:txBody>
      </p:sp>
      <p:sp>
        <p:nvSpPr>
          <p:cNvPr id="19" name="Stat 98"/>
          <p:cNvSpPr/>
          <p:nvPr/>
        </p:nvSpPr>
        <p:spPr>
          <a:xfrm>
            <a:off x="4754880" y="1280160"/>
            <a:ext cx="1243584" cy="13258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0" name="Stat 98"/>
          <p:cNvSpPr txBox="1"/>
          <p:nvPr/>
        </p:nvSpPr>
        <p:spPr>
          <a:xfrm>
            <a:off x="4754880" y="1389888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Stat 98"/>
          <p:cNvSpPr txBox="1"/>
          <p:nvPr/>
        </p:nvSpPr>
        <p:spPr>
          <a:xfrm>
            <a:off x="4754880" y="19476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22" name="Stat 98"/>
          <p:cNvSpPr txBox="1"/>
          <p:nvPr/>
        </p:nvSpPr>
        <p:spPr>
          <a:xfrm>
            <a:off x="4828032" y="2157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execution</a:t>
            </a:r>
            <a:endParaRPr lang="en-US" sz="1000" dirty="0"/>
          </a:p>
        </p:txBody>
      </p:sp>
      <p:sp>
        <p:nvSpPr>
          <p:cNvPr id="23" name="Stat 99"/>
          <p:cNvSpPr/>
          <p:nvPr/>
        </p:nvSpPr>
        <p:spPr>
          <a:xfrm>
            <a:off x="6099048" y="1280160"/>
            <a:ext cx="1243584" cy="13258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4" name="Stat 99"/>
          <p:cNvSpPr txBox="1"/>
          <p:nvPr/>
        </p:nvSpPr>
        <p:spPr>
          <a:xfrm>
            <a:off x="6099048" y="1389888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3000" dirty="0"/>
          </a:p>
        </p:txBody>
      </p:sp>
      <p:sp>
        <p:nvSpPr>
          <p:cNvPr id="25" name="Stat 99"/>
          <p:cNvSpPr txBox="1"/>
          <p:nvPr/>
        </p:nvSpPr>
        <p:spPr>
          <a:xfrm>
            <a:off x="6099048" y="19476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 dirty="0"/>
          </a:p>
        </p:txBody>
      </p:sp>
      <p:sp>
        <p:nvSpPr>
          <p:cNvPr id="26" name="Stat 99"/>
          <p:cNvSpPr txBox="1"/>
          <p:nvPr/>
        </p:nvSpPr>
        <p:spPr>
          <a:xfrm>
            <a:off x="6172200" y="2157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window</a:t>
            </a:r>
            <a:endParaRPr lang="en-US" sz="1000" dirty="0"/>
          </a:p>
        </p:txBody>
      </p:sp>
      <p:sp>
        <p:nvSpPr>
          <p:cNvPr id="27" name="Stat 100"/>
          <p:cNvSpPr/>
          <p:nvPr/>
        </p:nvSpPr>
        <p:spPr>
          <a:xfrm>
            <a:off x="7443216" y="1280160"/>
            <a:ext cx="1243584" cy="13258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8" name="Stat 100"/>
          <p:cNvSpPr txBox="1"/>
          <p:nvPr/>
        </p:nvSpPr>
        <p:spPr>
          <a:xfrm>
            <a:off x="7443216" y="1389888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</a:t>
            </a:r>
            <a:endParaRPr lang="en-US" sz="3000" dirty="0"/>
          </a:p>
        </p:txBody>
      </p:sp>
      <p:sp>
        <p:nvSpPr>
          <p:cNvPr id="29" name="Stat 100"/>
          <p:cNvSpPr txBox="1"/>
          <p:nvPr/>
        </p:nvSpPr>
        <p:spPr>
          <a:xfrm>
            <a:off x="7443216" y="19476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30" name="Stat 100"/>
          <p:cNvSpPr txBox="1"/>
          <p:nvPr/>
        </p:nvSpPr>
        <p:spPr>
          <a:xfrm>
            <a:off x="7516368" y="2157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interval</a:t>
            </a:r>
            <a:endParaRPr lang="en-US" sz="1000" dirty="0"/>
          </a:p>
        </p:txBody>
      </p:sp>
      <p:sp>
        <p:nvSpPr>
          <p:cNvPr id="31" name="Code 101"/>
          <p:cNvSpPr/>
          <p:nvPr/>
        </p:nvSpPr>
        <p:spPr>
          <a:xfrm>
            <a:off x="4754880" y="27889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5F8FC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2" name="Code 101"/>
          <p:cNvSpPr txBox="1"/>
          <p:nvPr/>
        </p:nvSpPr>
        <p:spPr>
          <a:xfrm>
            <a:off x="4983480" y="2926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OUTPUT  ·  spark_kpis</a:t>
            </a:r>
            <a:endParaRPr lang="en-US" sz="1000" dirty="0"/>
          </a:p>
        </p:txBody>
      </p:sp>
      <p:sp>
        <p:nvSpPr>
          <p:cNvPr id="33" name="Code 101c"/>
          <p:cNvSpPr txBox="1"/>
          <p:nvPr/>
        </p:nvSpPr>
        <p:spPr>
          <a:xfrm>
            <a:off x="4983480" y="32186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window_start       timestamp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event_count        int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avg_tp3            double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avg_motor_current  double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batch_duration     ms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2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3000"/>
                            </p:stCondLst>
                            <p:childTnLst>
                              <p:par>
                                <p:cTn id="1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102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000" dirty="0"/>
          </a:p>
        </p:txBody>
      </p:sp>
      <p:sp>
        <p:nvSpPr>
          <p:cNvPr id="3" name="Title 10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with Spark MLlib K-Means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6" name="Pipeline 104"/>
          <p:cNvSpPr/>
          <p:nvPr/>
        </p:nvSpPr>
        <p:spPr>
          <a:xfrm>
            <a:off x="457200" y="123444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7" name="Pipeline 104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62456"/>
            <a:ext cx="219456" cy="219456"/>
          </a:xfrm>
          <a:prstGeom prst="rect">
            <a:avLst/>
          </a:prstGeom>
        </p:spPr>
      </p:pic>
      <p:sp>
        <p:nvSpPr>
          <p:cNvPr id="8" name="Pipeline 104t"/>
          <p:cNvSpPr txBox="1"/>
          <p:nvPr/>
        </p:nvSpPr>
        <p:spPr>
          <a:xfrm>
            <a:off x="932688" y="12344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9" name="Arrow 105"/>
          <p:cNvSpPr/>
          <p:nvPr/>
        </p:nvSpPr>
        <p:spPr>
          <a:xfrm>
            <a:off x="2350008" y="1399032"/>
            <a:ext cx="173736" cy="146304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Pipeline 106"/>
          <p:cNvSpPr/>
          <p:nvPr/>
        </p:nvSpPr>
        <p:spPr>
          <a:xfrm>
            <a:off x="2587752" y="123444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11" name="Pipeline 106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62456"/>
            <a:ext cx="219456" cy="219456"/>
          </a:xfrm>
          <a:prstGeom prst="rect">
            <a:avLst/>
          </a:prstGeom>
        </p:spPr>
      </p:pic>
      <p:sp>
        <p:nvSpPr>
          <p:cNvPr id="12" name="Pipeline 106t"/>
          <p:cNvSpPr txBox="1"/>
          <p:nvPr/>
        </p:nvSpPr>
        <p:spPr>
          <a:xfrm>
            <a:off x="3063240" y="12344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13" name="Arrow 107"/>
          <p:cNvSpPr/>
          <p:nvPr/>
        </p:nvSpPr>
        <p:spPr>
          <a:xfrm>
            <a:off x="4480560" y="1399032"/>
            <a:ext cx="173736" cy="146304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Pipeline 108"/>
          <p:cNvSpPr/>
          <p:nvPr/>
        </p:nvSpPr>
        <p:spPr>
          <a:xfrm>
            <a:off x="4718304" y="123444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pic>
        <p:nvPicPr>
          <p:cNvPr id="15" name="Pipeline 108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362456"/>
            <a:ext cx="219456" cy="219456"/>
          </a:xfrm>
          <a:prstGeom prst="rect">
            <a:avLst/>
          </a:prstGeom>
        </p:spPr>
      </p:pic>
      <p:sp>
        <p:nvSpPr>
          <p:cNvPr id="16" name="Pipeline 108t"/>
          <p:cNvSpPr txBox="1"/>
          <p:nvPr/>
        </p:nvSpPr>
        <p:spPr>
          <a:xfrm>
            <a:off x="5193792" y="12344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clusters</a:t>
            </a:r>
            <a:endParaRPr lang="en-US" sz="1300" dirty="0"/>
          </a:p>
        </p:txBody>
      </p:sp>
      <p:sp>
        <p:nvSpPr>
          <p:cNvPr id="17" name="Arrow 109"/>
          <p:cNvSpPr/>
          <p:nvPr/>
        </p:nvSpPr>
        <p:spPr>
          <a:xfrm>
            <a:off x="6611112" y="1399032"/>
            <a:ext cx="173736" cy="146304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Pipeline 110"/>
          <p:cNvSpPr/>
          <p:nvPr/>
        </p:nvSpPr>
        <p:spPr>
          <a:xfrm>
            <a:off x="6848856" y="123444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FFE4E8"/>
          </a:solidFill>
          <a:ln w="9525">
            <a:solidFill>
              <a:srgbClr val="E11D48"/>
            </a:solidFill>
            <a:prstDash val="solid"/>
          </a:ln>
        </p:spPr>
      </p:sp>
      <p:pic>
        <p:nvPicPr>
          <p:cNvPr id="19" name="Pipeline 110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1362456"/>
            <a:ext cx="219456" cy="219456"/>
          </a:xfrm>
          <a:prstGeom prst="rect">
            <a:avLst/>
          </a:prstGeom>
        </p:spPr>
      </p:pic>
      <p:sp>
        <p:nvSpPr>
          <p:cNvPr id="20" name="Pipeline 110t"/>
          <p:cNvSpPr txBox="1"/>
          <p:nvPr/>
        </p:nvSpPr>
        <p:spPr>
          <a:xfrm>
            <a:off x="7324344" y="12344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1300" dirty="0"/>
          </a:p>
        </p:txBody>
      </p:sp>
      <p:sp>
        <p:nvSpPr>
          <p:cNvPr id="21" name="Plot 111"/>
          <p:cNvSpPr/>
          <p:nvPr/>
        </p:nvSpPr>
        <p:spPr>
          <a:xfrm>
            <a:off x="457200" y="192024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2" name="Plot label 112"/>
          <p:cNvSpPr txBox="1"/>
          <p:nvPr/>
        </p:nvSpPr>
        <p:spPr>
          <a:xfrm>
            <a:off x="640080" y="20574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SEES THE DATA  (illustrative)</a:t>
            </a:r>
            <a:endParaRPr lang="en-US" sz="900" dirty="0"/>
          </a:p>
        </p:txBody>
      </p:sp>
      <p:sp>
        <p:nvSpPr>
          <p:cNvPr id="23" name="Cluster 113.0"/>
          <p:cNvSpPr/>
          <p:nvPr/>
        </p:nvSpPr>
        <p:spPr>
          <a:xfrm>
            <a:off x="1677374" y="298559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Cluster 113.1"/>
          <p:cNvSpPr/>
          <p:nvPr/>
        </p:nvSpPr>
        <p:spPr>
          <a:xfrm>
            <a:off x="1355247" y="3081103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Cluster 113.2"/>
          <p:cNvSpPr/>
          <p:nvPr/>
        </p:nvSpPr>
        <p:spPr>
          <a:xfrm>
            <a:off x="1359491" y="282701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Cluster 113.3"/>
          <p:cNvSpPr/>
          <p:nvPr/>
        </p:nvSpPr>
        <p:spPr>
          <a:xfrm>
            <a:off x="1264894" y="3162561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Cluster 113.4"/>
          <p:cNvSpPr/>
          <p:nvPr/>
        </p:nvSpPr>
        <p:spPr>
          <a:xfrm>
            <a:off x="1391763" y="2823829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Cluster 113.5"/>
          <p:cNvSpPr/>
          <p:nvPr/>
        </p:nvSpPr>
        <p:spPr>
          <a:xfrm>
            <a:off x="1295593" y="2821025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Cluster 113.6"/>
          <p:cNvSpPr/>
          <p:nvPr/>
        </p:nvSpPr>
        <p:spPr>
          <a:xfrm>
            <a:off x="1438539" y="2890029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Cluster 113.7"/>
          <p:cNvSpPr/>
          <p:nvPr/>
        </p:nvSpPr>
        <p:spPr>
          <a:xfrm>
            <a:off x="1215411" y="3122759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Cluster 113.8"/>
          <p:cNvSpPr/>
          <p:nvPr/>
        </p:nvSpPr>
        <p:spPr>
          <a:xfrm>
            <a:off x="1357750" y="2920377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Cluster 113.9"/>
          <p:cNvSpPr/>
          <p:nvPr/>
        </p:nvSpPr>
        <p:spPr>
          <a:xfrm>
            <a:off x="1310928" y="2850540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Cluster 113.10"/>
          <p:cNvSpPr/>
          <p:nvPr/>
        </p:nvSpPr>
        <p:spPr>
          <a:xfrm>
            <a:off x="1619533" y="2886159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Cluster 113.11"/>
          <p:cNvSpPr/>
          <p:nvPr/>
        </p:nvSpPr>
        <p:spPr>
          <a:xfrm>
            <a:off x="1525155" y="309438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Cluster 113.12"/>
          <p:cNvSpPr/>
          <p:nvPr/>
        </p:nvSpPr>
        <p:spPr>
          <a:xfrm>
            <a:off x="1595090" y="2897561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Cluster 113c"/>
          <p:cNvSpPr/>
          <p:nvPr/>
        </p:nvSpPr>
        <p:spPr>
          <a:xfrm>
            <a:off x="1353312" y="2953512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7" name="Cluster 114.0"/>
          <p:cNvSpPr/>
          <p:nvPr/>
        </p:nvSpPr>
        <p:spPr>
          <a:xfrm>
            <a:off x="2215162" y="271614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Cluster 114.1"/>
          <p:cNvSpPr/>
          <p:nvPr/>
        </p:nvSpPr>
        <p:spPr>
          <a:xfrm>
            <a:off x="2591457" y="2726887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Cluster 114.2"/>
          <p:cNvSpPr/>
          <p:nvPr/>
        </p:nvSpPr>
        <p:spPr>
          <a:xfrm>
            <a:off x="2239215" y="293632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Cluster 114.3"/>
          <p:cNvSpPr/>
          <p:nvPr/>
        </p:nvSpPr>
        <p:spPr>
          <a:xfrm>
            <a:off x="2424662" y="274444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Cluster 114.4"/>
          <p:cNvSpPr/>
          <p:nvPr/>
        </p:nvSpPr>
        <p:spPr>
          <a:xfrm>
            <a:off x="2428133" y="2942581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Cluster 114.5"/>
          <p:cNvSpPr/>
          <p:nvPr/>
        </p:nvSpPr>
        <p:spPr>
          <a:xfrm>
            <a:off x="2216406" y="2898147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Cluster 114.6"/>
          <p:cNvSpPr/>
          <p:nvPr/>
        </p:nvSpPr>
        <p:spPr>
          <a:xfrm>
            <a:off x="2535326" y="2785165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Cluster 114.7"/>
          <p:cNvSpPr/>
          <p:nvPr/>
        </p:nvSpPr>
        <p:spPr>
          <a:xfrm>
            <a:off x="2308832" y="2624781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Cluster 114.8"/>
          <p:cNvSpPr/>
          <p:nvPr/>
        </p:nvSpPr>
        <p:spPr>
          <a:xfrm>
            <a:off x="2474341" y="2888157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Cluster 114.9"/>
          <p:cNvSpPr/>
          <p:nvPr/>
        </p:nvSpPr>
        <p:spPr>
          <a:xfrm>
            <a:off x="2165235" y="279061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Cluster 114.10"/>
          <p:cNvSpPr/>
          <p:nvPr/>
        </p:nvSpPr>
        <p:spPr>
          <a:xfrm>
            <a:off x="2240618" y="2893470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Cluster 114.11"/>
          <p:cNvSpPr/>
          <p:nvPr/>
        </p:nvSpPr>
        <p:spPr>
          <a:xfrm>
            <a:off x="2417916" y="2811030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Cluster 114.12"/>
          <p:cNvSpPr/>
          <p:nvPr/>
        </p:nvSpPr>
        <p:spPr>
          <a:xfrm>
            <a:off x="2242618" y="2941110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Cluster 114c"/>
          <p:cNvSpPr/>
          <p:nvPr/>
        </p:nvSpPr>
        <p:spPr>
          <a:xfrm>
            <a:off x="2313432" y="2816352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1" name="Cluster 115.0"/>
          <p:cNvSpPr/>
          <p:nvPr/>
        </p:nvSpPr>
        <p:spPr>
          <a:xfrm>
            <a:off x="3292696" y="2875695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Cluster 115.1"/>
          <p:cNvSpPr/>
          <p:nvPr/>
        </p:nvSpPr>
        <p:spPr>
          <a:xfrm>
            <a:off x="3330695" y="3068567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Cluster 115.2"/>
          <p:cNvSpPr/>
          <p:nvPr/>
        </p:nvSpPr>
        <p:spPr>
          <a:xfrm>
            <a:off x="3326142" y="3139804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Cluster 115.3"/>
          <p:cNvSpPr/>
          <p:nvPr/>
        </p:nvSpPr>
        <p:spPr>
          <a:xfrm>
            <a:off x="3328131" y="3181651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Cluster 115.4"/>
          <p:cNvSpPr/>
          <p:nvPr/>
        </p:nvSpPr>
        <p:spPr>
          <a:xfrm>
            <a:off x="3343769" y="3215589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Cluster 115.5"/>
          <p:cNvSpPr/>
          <p:nvPr/>
        </p:nvSpPr>
        <p:spPr>
          <a:xfrm>
            <a:off x="3345742" y="3009385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Cluster 115.6"/>
          <p:cNvSpPr/>
          <p:nvPr/>
        </p:nvSpPr>
        <p:spPr>
          <a:xfrm>
            <a:off x="3594199" y="2996251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Cluster 115.7"/>
          <p:cNvSpPr/>
          <p:nvPr/>
        </p:nvSpPr>
        <p:spPr>
          <a:xfrm>
            <a:off x="3588837" y="2940975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Cluster 115.8"/>
          <p:cNvSpPr/>
          <p:nvPr/>
        </p:nvSpPr>
        <p:spPr>
          <a:xfrm>
            <a:off x="3312575" y="295983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Cluster 115.9"/>
          <p:cNvSpPr/>
          <p:nvPr/>
        </p:nvSpPr>
        <p:spPr>
          <a:xfrm>
            <a:off x="3205874" y="307106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Cluster 115.10"/>
          <p:cNvSpPr/>
          <p:nvPr/>
        </p:nvSpPr>
        <p:spPr>
          <a:xfrm>
            <a:off x="3598260" y="302730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Cluster 115.11"/>
          <p:cNvSpPr/>
          <p:nvPr/>
        </p:nvSpPr>
        <p:spPr>
          <a:xfrm>
            <a:off x="3408249" y="297431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3" name="Cluster 115.12"/>
          <p:cNvSpPr/>
          <p:nvPr/>
        </p:nvSpPr>
        <p:spPr>
          <a:xfrm>
            <a:off x="3308948" y="301196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Cluster 115c"/>
          <p:cNvSpPr/>
          <p:nvPr/>
        </p:nvSpPr>
        <p:spPr>
          <a:xfrm>
            <a:off x="3410712" y="3044952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65" name="Cluster 116.0"/>
          <p:cNvSpPr/>
          <p:nvPr/>
        </p:nvSpPr>
        <p:spPr>
          <a:xfrm>
            <a:off x="1716174" y="392475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Cluster 116.1"/>
          <p:cNvSpPr/>
          <p:nvPr/>
        </p:nvSpPr>
        <p:spPr>
          <a:xfrm>
            <a:off x="1874937" y="359188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Cluster 116.2"/>
          <p:cNvSpPr/>
          <p:nvPr/>
        </p:nvSpPr>
        <p:spPr>
          <a:xfrm>
            <a:off x="2002066" y="3946204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Cluster 116.3"/>
          <p:cNvSpPr/>
          <p:nvPr/>
        </p:nvSpPr>
        <p:spPr>
          <a:xfrm>
            <a:off x="1946804" y="387223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Cluster 116.4"/>
          <p:cNvSpPr/>
          <p:nvPr/>
        </p:nvSpPr>
        <p:spPr>
          <a:xfrm>
            <a:off x="1849000" y="3868757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Cluster 116.5"/>
          <p:cNvSpPr/>
          <p:nvPr/>
        </p:nvSpPr>
        <p:spPr>
          <a:xfrm>
            <a:off x="1922217" y="3806083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Cluster 116.6"/>
          <p:cNvSpPr/>
          <p:nvPr/>
        </p:nvSpPr>
        <p:spPr>
          <a:xfrm>
            <a:off x="1724415" y="374494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2" name="Cluster 116.7"/>
          <p:cNvSpPr/>
          <p:nvPr/>
        </p:nvSpPr>
        <p:spPr>
          <a:xfrm>
            <a:off x="1590411" y="3854083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Cluster 116.8"/>
          <p:cNvSpPr/>
          <p:nvPr/>
        </p:nvSpPr>
        <p:spPr>
          <a:xfrm>
            <a:off x="1986231" y="3986584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4" name="Cluster 116.9"/>
          <p:cNvSpPr/>
          <p:nvPr/>
        </p:nvSpPr>
        <p:spPr>
          <a:xfrm>
            <a:off x="2009973" y="3657294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5" name="Cluster 116.10"/>
          <p:cNvSpPr/>
          <p:nvPr/>
        </p:nvSpPr>
        <p:spPr>
          <a:xfrm>
            <a:off x="2013818" y="3655839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6" name="Cluster 116.11"/>
          <p:cNvSpPr/>
          <p:nvPr/>
        </p:nvSpPr>
        <p:spPr>
          <a:xfrm>
            <a:off x="1806481" y="369784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7" name="Cluster 116.12"/>
          <p:cNvSpPr/>
          <p:nvPr/>
        </p:nvSpPr>
        <p:spPr>
          <a:xfrm>
            <a:off x="1928692" y="381543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8" name="Cluster 116c"/>
          <p:cNvSpPr/>
          <p:nvPr/>
        </p:nvSpPr>
        <p:spPr>
          <a:xfrm>
            <a:off x="1764792" y="3776472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79" name="Cluster 117.0"/>
          <p:cNvSpPr/>
          <p:nvPr/>
        </p:nvSpPr>
        <p:spPr>
          <a:xfrm>
            <a:off x="3096531" y="3881243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0" name="Cluster 117.1"/>
          <p:cNvSpPr/>
          <p:nvPr/>
        </p:nvSpPr>
        <p:spPr>
          <a:xfrm>
            <a:off x="2936088" y="378550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1" name="Cluster 117.2"/>
          <p:cNvSpPr/>
          <p:nvPr/>
        </p:nvSpPr>
        <p:spPr>
          <a:xfrm>
            <a:off x="3020703" y="3702835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2" name="Cluster 117.3"/>
          <p:cNvSpPr/>
          <p:nvPr/>
        </p:nvSpPr>
        <p:spPr>
          <a:xfrm>
            <a:off x="2981603" y="3758293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3" name="Cluster 117.4"/>
          <p:cNvSpPr/>
          <p:nvPr/>
        </p:nvSpPr>
        <p:spPr>
          <a:xfrm>
            <a:off x="3126467" y="3784511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4" name="Cluster 117.5"/>
          <p:cNvSpPr/>
          <p:nvPr/>
        </p:nvSpPr>
        <p:spPr>
          <a:xfrm>
            <a:off x="2830516" y="4016915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5" name="Cluster 117.6"/>
          <p:cNvSpPr/>
          <p:nvPr/>
        </p:nvSpPr>
        <p:spPr>
          <a:xfrm>
            <a:off x="3170673" y="395682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6" name="Cluster 117.7"/>
          <p:cNvSpPr/>
          <p:nvPr/>
        </p:nvSpPr>
        <p:spPr>
          <a:xfrm>
            <a:off x="3321396" y="385852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7" name="Cluster 117.8"/>
          <p:cNvSpPr/>
          <p:nvPr/>
        </p:nvSpPr>
        <p:spPr>
          <a:xfrm>
            <a:off x="2840559" y="3676877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8" name="Cluster 117.9"/>
          <p:cNvSpPr/>
          <p:nvPr/>
        </p:nvSpPr>
        <p:spPr>
          <a:xfrm>
            <a:off x="3315875" y="3884413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9" name="Cluster 117.10"/>
          <p:cNvSpPr/>
          <p:nvPr/>
        </p:nvSpPr>
        <p:spPr>
          <a:xfrm>
            <a:off x="3146249" y="4078855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0" name="Cluster 117.11"/>
          <p:cNvSpPr/>
          <p:nvPr/>
        </p:nvSpPr>
        <p:spPr>
          <a:xfrm>
            <a:off x="2816032" y="3779333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1" name="Cluster 117.12"/>
          <p:cNvSpPr/>
          <p:nvPr/>
        </p:nvSpPr>
        <p:spPr>
          <a:xfrm>
            <a:off x="3018365" y="3954562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2" name="Cluster 117c"/>
          <p:cNvSpPr/>
          <p:nvPr/>
        </p:nvSpPr>
        <p:spPr>
          <a:xfrm>
            <a:off x="2999232" y="3822192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93" name="Outlier 118"/>
          <p:cNvSpPr/>
          <p:nvPr/>
        </p:nvSpPr>
        <p:spPr>
          <a:xfrm>
            <a:off x="768096" y="3557016"/>
            <a:ext cx="201168" cy="201168"/>
          </a:xfrm>
          <a:prstGeom prst="ellipse">
            <a:avLst/>
          </a:prstGeom>
          <a:solidFill>
            <a:srgbClr val="FFE4E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4" name="Outlier 118d"/>
          <p:cNvSpPr/>
          <p:nvPr/>
        </p:nvSpPr>
        <p:spPr>
          <a:xfrm>
            <a:off x="827532" y="3616452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5" name="Outlier 119"/>
          <p:cNvSpPr/>
          <p:nvPr/>
        </p:nvSpPr>
        <p:spPr>
          <a:xfrm>
            <a:off x="3968496" y="2459736"/>
            <a:ext cx="201168" cy="201168"/>
          </a:xfrm>
          <a:prstGeom prst="ellipse">
            <a:avLst/>
          </a:prstGeom>
          <a:solidFill>
            <a:srgbClr val="FFE4E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6" name="Outlier 119d"/>
          <p:cNvSpPr/>
          <p:nvPr/>
        </p:nvSpPr>
        <p:spPr>
          <a:xfrm>
            <a:off x="4027932" y="2519172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7" name="Outlier 120"/>
          <p:cNvSpPr/>
          <p:nvPr/>
        </p:nvSpPr>
        <p:spPr>
          <a:xfrm>
            <a:off x="2368296" y="3282696"/>
            <a:ext cx="201168" cy="201168"/>
          </a:xfrm>
          <a:prstGeom prst="ellipse">
            <a:avLst/>
          </a:prstGeom>
          <a:solidFill>
            <a:srgbClr val="FFE4E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8" name="Outlier 120d"/>
          <p:cNvSpPr/>
          <p:nvPr/>
        </p:nvSpPr>
        <p:spPr>
          <a:xfrm>
            <a:off x="2427732" y="3342132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9" name="Outlier 121"/>
          <p:cNvSpPr/>
          <p:nvPr/>
        </p:nvSpPr>
        <p:spPr>
          <a:xfrm>
            <a:off x="4014216" y="3511296"/>
            <a:ext cx="201168" cy="201168"/>
          </a:xfrm>
          <a:prstGeom prst="ellipse">
            <a:avLst/>
          </a:prstGeom>
          <a:solidFill>
            <a:srgbClr val="FFE4E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0" name="Outlier 121d"/>
          <p:cNvSpPr/>
          <p:nvPr/>
        </p:nvSpPr>
        <p:spPr>
          <a:xfrm>
            <a:off x="4073652" y="3570732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1" name="Formula 122"/>
          <p:cNvSpPr txBox="1"/>
          <p:nvPr/>
        </p:nvSpPr>
        <p:spPr>
          <a:xfrm>
            <a:off x="640080" y="4160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nearest centroid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score  →  </a:t>
            </a:r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100" dirty="0"/>
          </a:p>
        </p:txBody>
      </p:sp>
      <p:sp>
        <p:nvSpPr>
          <p:cNvPr id="102" name="Stat 123"/>
          <p:cNvSpPr/>
          <p:nvPr/>
        </p:nvSpPr>
        <p:spPr>
          <a:xfrm>
            <a:off x="4663440" y="19202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3" name="Stat 123"/>
          <p:cNvSpPr txBox="1"/>
          <p:nvPr/>
        </p:nvSpPr>
        <p:spPr>
          <a:xfrm>
            <a:off x="4663440" y="2103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303,959</a:t>
            </a:r>
            <a:endParaRPr lang="en-US" sz="2800" dirty="0"/>
          </a:p>
        </p:txBody>
      </p:sp>
      <p:sp>
        <p:nvSpPr>
          <p:cNvPr id="104" name="Stat 123"/>
          <p:cNvSpPr txBox="1"/>
          <p:nvPr/>
        </p:nvSpPr>
        <p:spPr>
          <a:xfrm>
            <a:off x="4663440" y="2697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200" dirty="0"/>
          </a:p>
        </p:txBody>
      </p:sp>
      <p:sp>
        <p:nvSpPr>
          <p:cNvPr id="105" name="Stat 124"/>
          <p:cNvSpPr/>
          <p:nvPr/>
        </p:nvSpPr>
        <p:spPr>
          <a:xfrm>
            <a:off x="6720840" y="19202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6" name="Stat 124"/>
          <p:cNvSpPr txBox="1"/>
          <p:nvPr/>
        </p:nvSpPr>
        <p:spPr>
          <a:xfrm>
            <a:off x="6720840" y="2103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</a:t>
            </a:r>
            <a:endParaRPr lang="en-US" sz="2800" dirty="0"/>
          </a:p>
        </p:txBody>
      </p:sp>
      <p:sp>
        <p:nvSpPr>
          <p:cNvPr id="107" name="Stat 124"/>
          <p:cNvSpPr txBox="1"/>
          <p:nvPr/>
        </p:nvSpPr>
        <p:spPr>
          <a:xfrm>
            <a:off x="6720840" y="2697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200" dirty="0"/>
          </a:p>
        </p:txBody>
      </p:sp>
      <p:sp>
        <p:nvSpPr>
          <p:cNvPr id="108" name="Stat 125"/>
          <p:cNvSpPr/>
          <p:nvPr/>
        </p:nvSpPr>
        <p:spPr>
          <a:xfrm>
            <a:off x="4663440" y="32461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9" name="Stat 125"/>
          <p:cNvSpPr txBox="1"/>
          <p:nvPr/>
        </p:nvSpPr>
        <p:spPr>
          <a:xfrm>
            <a:off x="4663440" y="3429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3.032087</a:t>
            </a:r>
            <a:endParaRPr lang="en-US" sz="2800" dirty="0"/>
          </a:p>
        </p:txBody>
      </p:sp>
      <p:sp>
        <p:nvSpPr>
          <p:cNvPr id="110" name="Stat 125"/>
          <p:cNvSpPr txBox="1"/>
          <p:nvPr/>
        </p:nvSpPr>
        <p:spPr>
          <a:xfrm>
            <a:off x="4663440" y="4023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threshold</a:t>
            </a:r>
            <a:endParaRPr lang="en-US" sz="1200" dirty="0"/>
          </a:p>
        </p:txBody>
      </p:sp>
      <p:sp>
        <p:nvSpPr>
          <p:cNvPr id="111" name="Stat 126"/>
          <p:cNvSpPr/>
          <p:nvPr/>
        </p:nvSpPr>
        <p:spPr>
          <a:xfrm>
            <a:off x="6720840" y="32461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E4E8"/>
          </a:solidFill>
          <a:ln w="9525">
            <a:solidFill>
              <a:srgbClr val="E11D48"/>
            </a:solidFill>
            <a:prstDash val="solid"/>
          </a:ln>
        </p:spPr>
      </p:sp>
      <p:sp>
        <p:nvSpPr>
          <p:cNvPr id="112" name="Stat 126"/>
          <p:cNvSpPr txBox="1"/>
          <p:nvPr/>
        </p:nvSpPr>
        <p:spPr>
          <a:xfrm>
            <a:off x="6720840" y="3429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577</a:t>
            </a:r>
            <a:endParaRPr lang="en-US" sz="2800" dirty="0"/>
          </a:p>
        </p:txBody>
      </p:sp>
      <p:sp>
        <p:nvSpPr>
          <p:cNvPr id="113" name="Stat 126"/>
          <p:cNvSpPr txBox="1"/>
          <p:nvPr/>
        </p:nvSpPr>
        <p:spPr>
          <a:xfrm>
            <a:off x="6720840" y="4023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found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25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75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0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0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5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0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5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5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0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5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4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4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0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4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4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5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0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4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4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0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5"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4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4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0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4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4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5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4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4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0" dur="4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4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4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5" dur="4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4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4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4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5" dur="4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4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4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0" dur="4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4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4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5" dur="4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4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4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0" dur="4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5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0" dur="4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4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4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4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4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0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4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4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5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4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4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0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4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4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5"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4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4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0"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>
                            <p:stCondLst>
                              <p:cond delay="3680"/>
                            </p:stCondLst>
                            <p:childTnLst>
                              <p:par>
                                <p:cTn id="4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4" dur="4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4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6" dur="4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9" dur="4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0" dur="4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1" dur="4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4" dur="4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5" dur="4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6" dur="4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9" dur="4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0" dur="4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1" dur="4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4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4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6" dur="4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4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4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4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4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5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6" dur="4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9" dur="4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0" dur="4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1" dur="4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4780"/>
                            </p:stCondLst>
                            <p:childTnLst>
                              <p:par>
                                <p:cTn id="4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4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4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0" dur="4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4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4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5" dur="4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4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4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0" dur="4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4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4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5" dur="4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8" dur="4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4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4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4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4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4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8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4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3" dur="4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4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5" dur="4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8" dur="4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9" dur="4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0" dur="4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3" dur="4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4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5" dur="4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8" dur="4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9" dur="4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0" dur="4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3" dur="4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4" dur="4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5" dur="4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127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ANALYTICS</a:t>
            </a:r>
            <a:endParaRPr lang="en-US" sz="1000" dirty="0"/>
          </a:p>
        </p:txBody>
      </p:sp>
      <p:sp>
        <p:nvSpPr>
          <p:cNvPr id="3" name="Title 128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tables to business insight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6" name="Component 129"/>
          <p:cNvSpPr/>
          <p:nvPr/>
        </p:nvSpPr>
        <p:spPr>
          <a:xfrm>
            <a:off x="457200" y="128016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Component 129"/>
          <p:cNvSpPr/>
          <p:nvPr/>
        </p:nvSpPr>
        <p:spPr>
          <a:xfrm>
            <a:off x="621792" y="1463040"/>
            <a:ext cx="493776" cy="493776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con 13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74" y="1591422"/>
            <a:ext cx="237012" cy="237012"/>
          </a:xfrm>
          <a:prstGeom prst="rect">
            <a:avLst/>
          </a:prstGeom>
        </p:spPr>
      </p:pic>
      <p:sp>
        <p:nvSpPr>
          <p:cNvPr id="9" name="Component 129h"/>
          <p:cNvSpPr txBox="1"/>
          <p:nvPr/>
        </p:nvSpPr>
        <p:spPr>
          <a:xfrm>
            <a:off x="1280160" y="1444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spark_kpis</a:t>
            </a:r>
            <a:endParaRPr lang="en-US" sz="1400" dirty="0"/>
          </a:p>
        </p:txBody>
      </p:sp>
      <p:sp>
        <p:nvSpPr>
          <p:cNvPr id="10" name="Component 129d"/>
          <p:cNvSpPr txBox="1"/>
          <p:nvPr/>
        </p:nvSpPr>
        <p:spPr>
          <a:xfrm>
            <a:off x="128016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KPIs per micro-batch</a:t>
            </a:r>
            <a:endParaRPr lang="en-US" sz="1100" dirty="0"/>
          </a:p>
        </p:txBody>
      </p:sp>
      <p:sp>
        <p:nvSpPr>
          <p:cNvPr id="11" name="Link 131"/>
          <p:cNvSpPr/>
          <p:nvPr/>
        </p:nvSpPr>
        <p:spPr>
          <a:xfrm>
            <a:off x="2011680" y="2148840"/>
            <a:ext cx="0" cy="13716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2" name="Component 132"/>
          <p:cNvSpPr/>
          <p:nvPr/>
        </p:nvSpPr>
        <p:spPr>
          <a:xfrm>
            <a:off x="457200" y="228600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3" name="Component 132"/>
          <p:cNvSpPr/>
          <p:nvPr/>
        </p:nvSpPr>
        <p:spPr>
          <a:xfrm>
            <a:off x="621792" y="2468880"/>
            <a:ext cx="493776" cy="493776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con 1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74" y="2597262"/>
            <a:ext cx="237012" cy="237012"/>
          </a:xfrm>
          <a:prstGeom prst="rect">
            <a:avLst/>
          </a:prstGeom>
        </p:spPr>
      </p:pic>
      <p:sp>
        <p:nvSpPr>
          <p:cNvPr id="15" name="Component 132h"/>
          <p:cNvSpPr txBox="1"/>
          <p:nvPr/>
        </p:nvSpPr>
        <p:spPr>
          <a:xfrm>
            <a:off x="128016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anomaly_predictions</a:t>
            </a:r>
            <a:endParaRPr lang="en-US" sz="1400" dirty="0"/>
          </a:p>
        </p:txBody>
      </p:sp>
      <p:sp>
        <p:nvSpPr>
          <p:cNvPr id="16" name="Component 132d"/>
          <p:cNvSpPr txBox="1"/>
          <p:nvPr/>
        </p:nvSpPr>
        <p:spPr>
          <a:xfrm>
            <a:off x="128016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Normal / Anomaly label</a:t>
            </a:r>
            <a:endParaRPr lang="en-US" sz="1100" dirty="0"/>
          </a:p>
        </p:txBody>
      </p:sp>
      <p:sp>
        <p:nvSpPr>
          <p:cNvPr id="17" name="Link 134"/>
          <p:cNvSpPr/>
          <p:nvPr/>
        </p:nvSpPr>
        <p:spPr>
          <a:xfrm>
            <a:off x="2011680" y="3154680"/>
            <a:ext cx="0" cy="13716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8" name="Component 135"/>
          <p:cNvSpPr/>
          <p:nvPr/>
        </p:nvSpPr>
        <p:spPr>
          <a:xfrm>
            <a:off x="457200" y="329184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9" name="Component 135"/>
          <p:cNvSpPr/>
          <p:nvPr/>
        </p:nvSpPr>
        <p:spPr>
          <a:xfrm>
            <a:off x="621792" y="3474720"/>
            <a:ext cx="493776" cy="49377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con 13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74" y="3603102"/>
            <a:ext cx="237012" cy="237012"/>
          </a:xfrm>
          <a:prstGeom prst="rect">
            <a:avLst/>
          </a:prstGeom>
        </p:spPr>
      </p:pic>
      <p:sp>
        <p:nvSpPr>
          <p:cNvPr id="21" name="Component 135h"/>
          <p:cNvSpPr txBox="1"/>
          <p:nvPr/>
        </p:nvSpPr>
        <p:spPr>
          <a:xfrm>
            <a:off x="128016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dashboard</a:t>
            </a:r>
            <a:endParaRPr lang="en-US" sz="1500" dirty="0"/>
          </a:p>
        </p:txBody>
      </p:sp>
      <p:sp>
        <p:nvSpPr>
          <p:cNvPr id="22" name="Component 135d"/>
          <p:cNvSpPr txBox="1"/>
          <p:nvPr/>
        </p:nvSpPr>
        <p:spPr>
          <a:xfrm>
            <a:off x="128016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spikes, instructor-friendly</a:t>
            </a:r>
            <a:endParaRPr lang="en-US" sz="1100" dirty="0"/>
          </a:p>
        </p:txBody>
      </p:sp>
      <p:sp>
        <p:nvSpPr>
          <p:cNvPr id="23" name="Chart card 137"/>
          <p:cNvSpPr/>
          <p:nvPr/>
        </p:nvSpPr>
        <p:spPr>
          <a:xfrm>
            <a:off x="3840480" y="1280160"/>
            <a:ext cx="4846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4" name="Chart card 137t"/>
          <p:cNvSpPr txBox="1"/>
          <p:nvPr/>
        </p:nvSpPr>
        <p:spPr>
          <a:xfrm>
            <a:off x="406908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anomalies over time</a:t>
            </a:r>
            <a:endParaRPr lang="en-US" sz="1500" dirty="0"/>
          </a:p>
        </p:txBody>
      </p:sp>
      <p:sp>
        <p:nvSpPr>
          <p:cNvPr id="25" name="Chart card 137x"/>
          <p:cNvSpPr txBox="1"/>
          <p:nvPr/>
        </p:nvSpPr>
        <p:spPr>
          <a:xfrm>
            <a:off x="7452360" y="1463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800" dirty="0"/>
          </a:p>
        </p:txBody>
      </p:sp>
      <p:graphicFrame>
        <p:nvGraphicFramePr>
          <p:cNvPr id="26" name="Chart 138" descr=""/>
          <p:cNvGraphicFramePr/>
          <p:nvPr/>
        </p:nvGraphicFramePr>
        <p:xfrm>
          <a:off x="3931920" y="1783080"/>
          <a:ext cx="4663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Callout 139"/>
          <p:cNvSpPr txBox="1"/>
          <p:nvPr/>
        </p:nvSpPr>
        <p:spPr>
          <a:xfrm>
            <a:off x="4572000" y="19202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FE4E8"/>
          </a:solidFill>
          <a:ln w="9525">
            <a:solidFill>
              <a:srgbClr val="E11D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= maintenance signal</a:t>
            </a:r>
            <a:endParaRPr lang="en-US" sz="1000" dirty="0"/>
          </a:p>
        </p:txBody>
      </p:sp>
      <p:sp>
        <p:nvSpPr>
          <p:cNvPr id="28" name="Caption 140"/>
          <p:cNvSpPr txBox="1"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turns the anomaly spike into a business insight — not just terminal output.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2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Graphic spid="26" grpId="0">
        <p:bldAsOne/>
      </p:bldGraphic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141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" name="Title 14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&amp; reproducibility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  <p:sp>
        <p:nvSpPr>
          <p:cNvPr id="6" name="Card 143"/>
          <p:cNvSpPr/>
          <p:nvPr/>
        </p:nvSpPr>
        <p:spPr>
          <a:xfrm>
            <a:off x="457200" y="128016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Card 143"/>
          <p:cNvSpPr/>
          <p:nvPr/>
        </p:nvSpPr>
        <p:spPr>
          <a:xfrm>
            <a:off x="658368" y="1463040"/>
            <a:ext cx="530352" cy="530352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con 1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60" y="1600932"/>
            <a:ext cx="254569" cy="254569"/>
          </a:xfrm>
          <a:prstGeom prst="rect">
            <a:avLst/>
          </a:prstGeom>
        </p:spPr>
      </p:pic>
      <p:sp>
        <p:nvSpPr>
          <p:cNvPr id="9" name="Card 143h"/>
          <p:cNvSpPr txBox="1"/>
          <p:nvPr/>
        </p:nvSpPr>
        <p:spPr>
          <a:xfrm>
            <a:off x="132588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10" name="Card 143d"/>
          <p:cNvSpPr txBox="1"/>
          <p:nvPr/>
        </p:nvSpPr>
        <p:spPr>
          <a:xfrm>
            <a:off x="658368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starts Kafka, Spark, PostgreSQL, Superset and Airflow.</a:t>
            </a:r>
            <a:endParaRPr lang="en-US" sz="1200" dirty="0"/>
          </a:p>
        </p:txBody>
      </p:sp>
      <p:sp>
        <p:nvSpPr>
          <p:cNvPr id="11" name="Card 145"/>
          <p:cNvSpPr/>
          <p:nvPr/>
        </p:nvSpPr>
        <p:spPr>
          <a:xfrm>
            <a:off x="3264408" y="128016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2" name="Card 145"/>
          <p:cNvSpPr/>
          <p:nvPr/>
        </p:nvSpPr>
        <p:spPr>
          <a:xfrm>
            <a:off x="3465576" y="1463040"/>
            <a:ext cx="530352" cy="53035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con 1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468" y="1600932"/>
            <a:ext cx="254569" cy="254569"/>
          </a:xfrm>
          <a:prstGeom prst="rect">
            <a:avLst/>
          </a:prstGeom>
        </p:spPr>
      </p:pic>
      <p:sp>
        <p:nvSpPr>
          <p:cNvPr id="14" name="Card 145h"/>
          <p:cNvSpPr txBox="1"/>
          <p:nvPr/>
        </p:nvSpPr>
        <p:spPr>
          <a:xfrm>
            <a:off x="4133088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1600" dirty="0"/>
          </a:p>
        </p:txBody>
      </p:sp>
      <p:sp>
        <p:nvSpPr>
          <p:cNvPr id="15" name="Card 145d"/>
          <p:cNvSpPr txBox="1"/>
          <p:nvPr/>
        </p:nvSpPr>
        <p:spPr>
          <a:xfrm>
            <a:off x="3465576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confirm every service is ready before the demo.</a:t>
            </a:r>
            <a:endParaRPr lang="en-US" sz="1200" dirty="0"/>
          </a:p>
        </p:txBody>
      </p:sp>
      <p:sp>
        <p:nvSpPr>
          <p:cNvPr id="16" name="Card 147"/>
          <p:cNvSpPr/>
          <p:nvPr/>
        </p:nvSpPr>
        <p:spPr>
          <a:xfrm>
            <a:off x="6071616" y="128016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7" name="Card 147"/>
          <p:cNvSpPr/>
          <p:nvPr/>
        </p:nvSpPr>
        <p:spPr>
          <a:xfrm>
            <a:off x="6272784" y="1463040"/>
            <a:ext cx="530352" cy="53035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con 14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76" y="1600932"/>
            <a:ext cx="254569" cy="254569"/>
          </a:xfrm>
          <a:prstGeom prst="rect">
            <a:avLst/>
          </a:prstGeom>
        </p:spPr>
      </p:pic>
      <p:sp>
        <p:nvSpPr>
          <p:cNvPr id="19" name="Card 147h"/>
          <p:cNvSpPr txBox="1"/>
          <p:nvPr/>
        </p:nvSpPr>
        <p:spPr>
          <a:xfrm>
            <a:off x="6940296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demo</a:t>
            </a:r>
            <a:endParaRPr lang="en-US" sz="1600" dirty="0"/>
          </a:p>
        </p:txBody>
      </p:sp>
      <p:sp>
        <p:nvSpPr>
          <p:cNvPr id="20" name="Card 147d"/>
          <p:cNvSpPr txBox="1"/>
          <p:nvPr/>
        </p:nvSpPr>
        <p:spPr>
          <a:xfrm>
            <a:off x="6272784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same results — from a clean start, every time.</a:t>
            </a:r>
            <a:endParaRPr lang="en-US" sz="1200" dirty="0"/>
          </a:p>
        </p:txBody>
      </p:sp>
      <p:sp>
        <p:nvSpPr>
          <p:cNvPr id="21" name="Scope 149"/>
          <p:cNvSpPr/>
          <p:nvPr/>
        </p:nvSpPr>
        <p:spPr>
          <a:xfrm>
            <a:off x="457200" y="28803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2" name="Scope 149a"/>
          <p:cNvSpPr txBox="1"/>
          <p:nvPr/>
        </p:nvSpPr>
        <p:spPr>
          <a:xfrm>
            <a:off x="68580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SCOPE</a:t>
            </a:r>
            <a:endParaRPr lang="en-US" sz="1100" dirty="0"/>
          </a:p>
        </p:txBody>
      </p:sp>
      <p:sp>
        <p:nvSpPr>
          <p:cNvPr id="23" name="Scope 149b"/>
          <p:cNvSpPr txBox="1"/>
          <p:nvPr/>
        </p:nvSpPr>
        <p:spPr>
          <a:xfrm>
            <a:off x="685800" y="336499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for PostgreSQL, Kafka and Spark — the pipeline is verified ready before the demo starts.</a:t>
            </a:r>
            <a:endParaRPr lang="en-US" sz="1400" dirty="0"/>
          </a:p>
        </p:txBody>
      </p:sp>
      <p:sp>
        <p:nvSpPr>
          <p:cNvPr id="24" name="Check 150"/>
          <p:cNvSpPr/>
          <p:nvPr/>
        </p:nvSpPr>
        <p:spPr>
          <a:xfrm>
            <a:off x="4069080" y="2944368"/>
            <a:ext cx="237744" cy="237744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pic>
        <p:nvPicPr>
          <p:cNvPr id="25" name="Check 150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2999232"/>
            <a:ext cx="128016" cy="128016"/>
          </a:xfrm>
          <a:prstGeom prst="rect">
            <a:avLst/>
          </a:prstGeom>
        </p:spPr>
      </p:pic>
      <p:sp>
        <p:nvSpPr>
          <p:cNvPr id="26" name="Check 150t"/>
          <p:cNvSpPr txBox="1"/>
          <p:nvPr/>
        </p:nvSpPr>
        <p:spPr>
          <a:xfrm>
            <a:off x="4434840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starts from scratch</a:t>
            </a:r>
            <a:endParaRPr lang="en-US" sz="1300" dirty="0"/>
          </a:p>
        </p:txBody>
      </p:sp>
      <p:sp>
        <p:nvSpPr>
          <p:cNvPr id="27" name="Check 151"/>
          <p:cNvSpPr/>
          <p:nvPr/>
        </p:nvSpPr>
        <p:spPr>
          <a:xfrm>
            <a:off x="4069080" y="3346704"/>
            <a:ext cx="237744" cy="237744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pic>
        <p:nvPicPr>
          <p:cNvPr id="28" name="Check 151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44" y="3401568"/>
            <a:ext cx="128016" cy="128016"/>
          </a:xfrm>
          <a:prstGeom prst="rect">
            <a:avLst/>
          </a:prstGeom>
        </p:spPr>
      </p:pic>
      <p:sp>
        <p:nvSpPr>
          <p:cNvPr id="29" name="Check 151t"/>
          <p:cNvSpPr txBox="1"/>
          <p:nvPr/>
        </p:nvSpPr>
        <p:spPr>
          <a:xfrm>
            <a:off x="4434840" y="33284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files are saved and reused after restart</a:t>
            </a:r>
            <a:endParaRPr lang="en-US" sz="1300" dirty="0"/>
          </a:p>
        </p:txBody>
      </p:sp>
      <p:sp>
        <p:nvSpPr>
          <p:cNvPr id="30" name="Check 152"/>
          <p:cNvSpPr/>
          <p:nvPr/>
        </p:nvSpPr>
        <p:spPr>
          <a:xfrm>
            <a:off x="4069080" y="3749040"/>
            <a:ext cx="237744" cy="237744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pic>
        <p:nvPicPr>
          <p:cNvPr id="31" name="Check 152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944" y="3803904"/>
            <a:ext cx="128016" cy="128016"/>
          </a:xfrm>
          <a:prstGeom prst="rect">
            <a:avLst/>
          </a:prstGeom>
        </p:spPr>
      </p:pic>
      <p:sp>
        <p:nvSpPr>
          <p:cNvPr id="32" name="Check 152t"/>
          <p:cNvSpPr txBox="1"/>
          <p:nvPr/>
        </p:nvSpPr>
        <p:spPr>
          <a:xfrm>
            <a:off x="4434840" y="3730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 for the local demo</a:t>
            </a:r>
            <a:endParaRPr lang="en-US" sz="1300" dirty="0"/>
          </a:p>
        </p:txBody>
      </p:sp>
      <p:sp>
        <p:nvSpPr>
          <p:cNvPr id="33" name="Check 153"/>
          <p:cNvSpPr/>
          <p:nvPr/>
        </p:nvSpPr>
        <p:spPr>
          <a:xfrm>
            <a:off x="4069080" y="4151376"/>
            <a:ext cx="237744" cy="237744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pic>
        <p:nvPicPr>
          <p:cNvPr id="34" name="Check 153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3944" y="4206240"/>
            <a:ext cx="128016" cy="128016"/>
          </a:xfrm>
          <a:prstGeom prst="rect">
            <a:avLst/>
          </a:prstGeom>
        </p:spPr>
      </p:pic>
      <p:sp>
        <p:nvSpPr>
          <p:cNvPr id="35" name="Check 153t"/>
          <p:cNvSpPr txBox="1"/>
          <p:nvPr/>
        </p:nvSpPr>
        <p:spPr>
          <a:xfrm>
            <a:off x="4434840" y="4133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persist through Docker volumes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9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60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154"/>
          <p:cNvSpPr txBox="1"/>
          <p:nvPr/>
        </p:nvSpPr>
        <p:spPr>
          <a:xfrm>
            <a:off x="457200" y="292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STORY &amp; OUTCOMES</a:t>
            </a:r>
            <a:endParaRPr lang="en-US" sz="1000" dirty="0"/>
          </a:p>
        </p:txBody>
      </p:sp>
      <p:sp>
        <p:nvSpPr>
          <p:cNvPr id="3" name="Title 155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sensors to decisions — live</a:t>
            </a:r>
            <a:endParaRPr lang="en-US" sz="2800" dirty="0"/>
          </a:p>
        </p:txBody>
      </p:sp>
      <p:sp>
        <p:nvSpPr>
          <p:cNvPr id="4" name="Track 156"/>
          <p:cNvSpPr/>
          <p:nvPr/>
        </p:nvSpPr>
        <p:spPr>
          <a:xfrm>
            <a:off x="1165860" y="1760220"/>
            <a:ext cx="6812280" cy="0"/>
          </a:xfrm>
          <a:prstGeom prst="line">
            <a:avLst/>
          </a:prstGeom>
          <a:noFill/>
          <a:ln w="25400">
            <a:solidFill>
              <a:srgbClr val="D5DDE8"/>
            </a:solidFill>
            <a:prstDash val="solid"/>
          </a:ln>
        </p:spPr>
      </p:sp>
      <p:sp>
        <p:nvSpPr>
          <p:cNvPr id="5" name="Milestone 157"/>
          <p:cNvSpPr/>
          <p:nvPr/>
        </p:nvSpPr>
        <p:spPr>
          <a:xfrm>
            <a:off x="822960" y="1417320"/>
            <a:ext cx="685800" cy="685800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con 1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595628"/>
            <a:ext cx="329184" cy="329184"/>
          </a:xfrm>
          <a:prstGeom prst="rect">
            <a:avLst/>
          </a:prstGeom>
        </p:spPr>
      </p:pic>
      <p:sp>
        <p:nvSpPr>
          <p:cNvPr id="7" name="Milestone 157n"/>
          <p:cNvSpPr txBox="1"/>
          <p:nvPr/>
        </p:nvSpPr>
        <p:spPr>
          <a:xfrm>
            <a:off x="548640" y="2194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Milestone 157l"/>
          <p:cNvSpPr txBox="1"/>
          <p:nvPr/>
        </p:nvSpPr>
        <p:spPr>
          <a:xfrm>
            <a:off x="45720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stack</a:t>
            </a:r>
            <a:endParaRPr lang="en-US" sz="1400" dirty="0"/>
          </a:p>
        </p:txBody>
      </p:sp>
      <p:sp>
        <p:nvSpPr>
          <p:cNvPr id="9" name="Milestone 159"/>
          <p:cNvSpPr/>
          <p:nvPr/>
        </p:nvSpPr>
        <p:spPr>
          <a:xfrm>
            <a:off x="2526030" y="1417320"/>
            <a:ext cx="685800" cy="685800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con 16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338" y="1595628"/>
            <a:ext cx="329184" cy="329184"/>
          </a:xfrm>
          <a:prstGeom prst="rect">
            <a:avLst/>
          </a:prstGeom>
        </p:spPr>
      </p:pic>
      <p:sp>
        <p:nvSpPr>
          <p:cNvPr id="11" name="Milestone 159n"/>
          <p:cNvSpPr txBox="1"/>
          <p:nvPr/>
        </p:nvSpPr>
        <p:spPr>
          <a:xfrm>
            <a:off x="2251710" y="2194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Milestone 159l"/>
          <p:cNvSpPr txBox="1"/>
          <p:nvPr/>
        </p:nvSpPr>
        <p:spPr>
          <a:xfrm>
            <a:off x="216027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data</a:t>
            </a:r>
            <a:endParaRPr lang="en-US" sz="1400" dirty="0"/>
          </a:p>
        </p:txBody>
      </p:sp>
      <p:sp>
        <p:nvSpPr>
          <p:cNvPr id="13" name="Milestone 161"/>
          <p:cNvSpPr/>
          <p:nvPr/>
        </p:nvSpPr>
        <p:spPr>
          <a:xfrm>
            <a:off x="4229100" y="1417320"/>
            <a:ext cx="685800" cy="685800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con 1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595628"/>
            <a:ext cx="329184" cy="329184"/>
          </a:xfrm>
          <a:prstGeom prst="rect">
            <a:avLst/>
          </a:prstGeom>
        </p:spPr>
      </p:pic>
      <p:sp>
        <p:nvSpPr>
          <p:cNvPr id="15" name="Milestone 161n"/>
          <p:cNvSpPr txBox="1"/>
          <p:nvPr/>
        </p:nvSpPr>
        <p:spPr>
          <a:xfrm>
            <a:off x="3954780" y="2194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Milestone 161l"/>
          <p:cNvSpPr txBox="1"/>
          <p:nvPr/>
        </p:nvSpPr>
        <p:spPr>
          <a:xfrm>
            <a:off x="386334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stream</a:t>
            </a:r>
            <a:endParaRPr lang="en-US" sz="1400" dirty="0"/>
          </a:p>
        </p:txBody>
      </p:sp>
      <p:sp>
        <p:nvSpPr>
          <p:cNvPr id="17" name="Milestone 163"/>
          <p:cNvSpPr/>
          <p:nvPr/>
        </p:nvSpPr>
        <p:spPr>
          <a:xfrm>
            <a:off x="5932170" y="1417320"/>
            <a:ext cx="685800" cy="685800"/>
          </a:xfrm>
          <a:prstGeom prst="ellipse">
            <a:avLst/>
          </a:prstGeom>
          <a:solidFill>
            <a:srgbClr val="E0F4F8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con 16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478" y="1595628"/>
            <a:ext cx="329184" cy="329184"/>
          </a:xfrm>
          <a:prstGeom prst="rect">
            <a:avLst/>
          </a:prstGeom>
        </p:spPr>
      </p:pic>
      <p:sp>
        <p:nvSpPr>
          <p:cNvPr id="19" name="Milestone 163n"/>
          <p:cNvSpPr txBox="1"/>
          <p:nvPr/>
        </p:nvSpPr>
        <p:spPr>
          <a:xfrm>
            <a:off x="5657850" y="2194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Milestone 163l"/>
          <p:cNvSpPr txBox="1"/>
          <p:nvPr/>
        </p:nvSpPr>
        <p:spPr>
          <a:xfrm>
            <a:off x="556641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AI</a:t>
            </a:r>
            <a:endParaRPr lang="en-US" sz="1400" dirty="0"/>
          </a:p>
        </p:txBody>
      </p:sp>
      <p:sp>
        <p:nvSpPr>
          <p:cNvPr id="21" name="Milestone 165"/>
          <p:cNvSpPr/>
          <p:nvPr/>
        </p:nvSpPr>
        <p:spPr>
          <a:xfrm>
            <a:off x="7635240" y="1417320"/>
            <a:ext cx="685800" cy="6858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con 16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548" y="1595628"/>
            <a:ext cx="329184" cy="329184"/>
          </a:xfrm>
          <a:prstGeom prst="rect">
            <a:avLst/>
          </a:prstGeom>
        </p:spPr>
      </p:pic>
      <p:sp>
        <p:nvSpPr>
          <p:cNvPr id="23" name="Milestone 165n"/>
          <p:cNvSpPr txBox="1"/>
          <p:nvPr/>
        </p:nvSpPr>
        <p:spPr>
          <a:xfrm>
            <a:off x="7360920" y="2194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Milestone 165l"/>
          <p:cNvSpPr txBox="1"/>
          <p:nvPr/>
        </p:nvSpPr>
        <p:spPr>
          <a:xfrm>
            <a:off x="726948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5" name="Value 167"/>
          <p:cNvSpPr/>
          <p:nvPr/>
        </p:nvSpPr>
        <p:spPr>
          <a:xfrm>
            <a:off x="457200" y="28803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6" name="Value 167a"/>
          <p:cNvSpPr txBox="1"/>
          <p:nvPr/>
        </p:nvSpPr>
        <p:spPr>
          <a:xfrm>
            <a:off x="685800" y="2880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1100" dirty="0"/>
          </a:p>
        </p:txBody>
      </p:sp>
      <p:sp>
        <p:nvSpPr>
          <p:cNvPr id="27" name="Value 167b"/>
          <p:cNvSpPr txBox="1"/>
          <p:nvPr/>
        </p:nvSpPr>
        <p:spPr>
          <a:xfrm>
            <a:off x="2377440" y="28803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ingestion, distributed processing, anomaly detection, persistent storage and visual decision support — in one reproducible platform.</a:t>
            </a:r>
            <a:endParaRPr lang="en-US" sz="1300" dirty="0"/>
          </a:p>
        </p:txBody>
      </p:sp>
      <p:sp>
        <p:nvSpPr>
          <p:cNvPr id="28" name="Closing 168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system converts raw MetroPT sensor data into </a:t>
            </a:r>
            <a:pPr algn="ctr" indent="0" marL="0">
              <a:buNone/>
            </a:pPr>
            <a:r>
              <a:rPr lang="en-US" sz="1900" b="1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compressor health insights</a:t>
            </a:r>
            <a:pPr algn="ctr" indent="0" marL="0">
              <a:buNone/>
            </a:pPr>
            <a:r>
              <a:rPr lang="en-US" sz="1900" b="1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.”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 · Railway Compressor Monitoring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758952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9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300"/>
                            </p:stCondLst>
                            <p:childTnLst>
                              <p:par>
                                <p:cTn id="1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Live dot"/>
          <p:cNvSpPr/>
          <p:nvPr/>
        </p:nvSpPr>
        <p:spPr>
          <a:xfrm>
            <a:off x="457200" y="1316736"/>
            <a:ext cx="109728" cy="10972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16" name="Eyebrow"/>
          <p:cNvSpPr txBox="1"/>
          <p:nvPr/>
        </p:nvSpPr>
        <p:spPr>
          <a:xfrm>
            <a:off x="658368" y="1280160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LIVE  ·  Q&amp;A SESSION</a:t>
            </a:r>
          </a:p>
        </p:txBody>
      </p:sp>
      <p:sp>
        <p:nvSpPr>
          <p:cNvPr id="117" name="Thank you"/>
          <p:cNvSpPr txBox="1"/>
          <p:nvPr/>
        </p:nvSpPr>
        <p:spPr>
          <a:xfrm>
            <a:off x="457200" y="1645920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18" name="Questions"/>
          <p:cNvSpPr txBox="1"/>
          <p:nvPr/>
        </p:nvSpPr>
        <p:spPr>
          <a:xfrm>
            <a:off x="457200" y="265176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Arial"/>
                <a:ea typeface="Arial"/>
                <a:cs typeface="Arial"/>
              </a:rPr>
              <a:t>Any questions?</a:t>
            </a:r>
          </a:p>
        </p:txBody>
      </p:sp>
      <p:sp>
        <p:nvSpPr>
          <p:cNvPr id="119" name="Recap"/>
          <p:cNvSpPr txBox="1"/>
          <p:nvPr/>
        </p:nvSpPr>
        <p:spPr>
          <a:xfrm>
            <a:off x="457200" y="347472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From raw MetroPT sensor data to actionable compressor health insights.</a:t>
            </a:r>
          </a:p>
        </p:txBody>
      </p:sp>
      <p:sp>
        <p:nvSpPr>
          <p:cNvPr id="120" name="Pulse outer"/>
          <p:cNvSpPr/>
          <p:nvPr/>
        </p:nvSpPr>
        <p:spPr>
          <a:xfrm>
            <a:off x="5806440" y="960120"/>
            <a:ext cx="2834640" cy="2834640"/>
          </a:xfrm>
          <a:prstGeom prst="ellipse">
            <a:avLst/>
          </a:prstGeom>
          <a:noFill/>
          <a:ln w="12700">
            <a:solidFill>
              <a:srgbClr val="DCE3EE"/>
            </a:solidFill>
          </a:ln>
        </p:spPr>
      </p:sp>
      <p:sp>
        <p:nvSpPr>
          <p:cNvPr id="121" name="Pulse mid"/>
          <p:cNvSpPr/>
          <p:nvPr/>
        </p:nvSpPr>
        <p:spPr>
          <a:xfrm>
            <a:off x="6126480" y="1280160"/>
            <a:ext cx="2194560" cy="2194560"/>
          </a:xfrm>
          <a:prstGeom prst="ellipse">
            <a:avLst/>
          </a:prstGeom>
          <a:noFill/>
          <a:ln w="15875">
            <a:solidFill>
              <a:srgbClr val="D5DDE8"/>
            </a:solidFill>
          </a:ln>
        </p:spPr>
      </p:sp>
      <p:sp>
        <p:nvSpPr>
          <p:cNvPr id="122" name="Question ring"/>
          <p:cNvSpPr/>
          <p:nvPr/>
        </p:nvSpPr>
        <p:spPr>
          <a:xfrm>
            <a:off x="6446520" y="1600200"/>
            <a:ext cx="1554480" cy="1554480"/>
          </a:xfrm>
          <a:prstGeom prst="ellipse">
            <a:avLst/>
          </a:prstGeom>
          <a:solidFill>
            <a:srgbClr val="E0F4F8"/>
          </a:solidFill>
          <a:ln w="28575">
            <a:solidFill>
              <a:srgbClr val="0891B2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8800" b="1" dirty="0">
                <a:solidFill>
                  <a:srgbClr val="0891B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23" name="Footer"/>
          <p:cNvSpPr txBox="1"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MetroPT · Railway Compressor Monitoring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1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1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91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Railway Compressor Monitoring</dc:title>
  <dc:subject>PptxGenJS Presentation</dc:subject>
  <dc:creator>PptxGenJS</dc:creator>
  <cp:lastModifiedBy>PptxGenJS</cp:lastModifiedBy>
  <cp:revision>1</cp:revision>
  <dcterms:created xsi:type="dcterms:W3CDTF">2026-09-16T23:03:55Z</dcterms:created>
  <dcterms:modified xsi:type="dcterms:W3CDTF">2026-09-16T23:03:55Z</dcterms:modified>
</cp:coreProperties>
</file>